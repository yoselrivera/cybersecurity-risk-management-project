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8" r:id="rId9"/>
    <p:sldId id="269" r:id="rId10"/>
    <p:sldId id="270" r:id="rId11"/>
    <p:sldId id="271" r:id="rId12"/>
    <p:sldId id="272" r:id="rId13"/>
    <p:sldId id="282" r:id="rId14"/>
    <p:sldId id="263" r:id="rId15"/>
    <p:sldId id="275" r:id="rId16"/>
    <p:sldId id="266" r:id="rId17"/>
    <p:sldId id="273" r:id="rId18"/>
    <p:sldId id="274" r:id="rId19"/>
    <p:sldId id="276" r:id="rId20"/>
    <p:sldId id="277" r:id="rId21"/>
    <p:sldId id="264" r:id="rId22"/>
    <p:sldId id="279" r:id="rId23"/>
    <p:sldId id="280" r:id="rId24"/>
    <p:sldId id="281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25197-F0E2-2D01-43D4-7AF68B66778B}" v="277" dt="2025-12-08T02:37:31.344"/>
    <p1510:client id="{0F387D37-5014-2CF6-CFED-56B81980E364}" v="3" dt="2025-12-08T03:33:00.215"/>
    <p1510:client id="{115FF959-54AB-0819-5B32-D65DED2E54C3}" v="16" dt="2025-12-08T03:47:25.616"/>
    <p1510:client id="{22DB99C4-C51F-4205-70ED-FD722F5DDD9D}" v="142" dt="2025-12-08T01:01:55.854"/>
    <p1510:client id="{4D32BD83-425F-FAA5-D1A9-FE060EA920AA}" v="8" dt="2025-12-08T18:26:21.169"/>
    <p1510:client id="{5839F93F-BC88-61E4-9B91-CC2B50CCB811}" v="241" dt="2025-12-08T03:43:17.676"/>
    <p1510:client id="{657DF685-3FFE-4F4E-F90E-8017813C663F}" v="107" dt="2025-12-08T03:32:26.266"/>
    <p1510:client id="{6CD8B0BE-02CE-13D8-991F-6AEEDFEA741F}" v="884" dt="2025-12-07T19:29:22.714"/>
    <p1510:client id="{80BF7F65-D176-AC34-1A2F-59831FE0A936}" v="10" dt="2025-12-08T03:24:52.523"/>
    <p1510:client id="{BD16E3EB-5FC7-5D7B-C985-E77CC83ED647}" v="3" dt="2025-12-08T17:25:36.938"/>
    <p1510:client id="{D3501C64-737C-0AF4-7F43-6C6FD3D04A38}" v="130" dt="2025-12-08T18:33:54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err="1"/>
              <a:t>Gorthrup</a:t>
            </a:r>
            <a:r>
              <a:rPr lang="en-US"/>
              <a:t> </a:t>
            </a:r>
            <a:r>
              <a:rPr lang="en-US" err="1"/>
              <a:t>Nrumman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Team Members: Yosel Rivera, Ari </a:t>
            </a:r>
            <a:r>
              <a:rPr lang="en-US" err="1"/>
              <a:t>Betan</a:t>
            </a:r>
            <a:r>
              <a:rPr lang="en-US"/>
              <a:t> Snook, Maria Bellamy, Chase Taunton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55461-52E9-B780-FBA2-8B472008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C5AA30A6-C7A1-0E8F-F818-51B4F7CD9B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1244" r="-2" b="1786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809D8-432B-7ADE-EDB3-3EED45D19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Organization Overview + Mission Compliance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23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4828-AF29-6378-1322-9EF94979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34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Who is </a:t>
            </a:r>
            <a:r>
              <a:rPr lang="en-US" err="1"/>
              <a:t>Gorthrup</a:t>
            </a:r>
            <a:r>
              <a:rPr lang="en-US"/>
              <a:t> </a:t>
            </a:r>
            <a:r>
              <a:rPr lang="en-US" err="1"/>
              <a:t>Nrumman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C26CF-A30E-63E5-E035-0BB50A6B1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u="sng"/>
              <a:t>Who are we?</a:t>
            </a:r>
          </a:p>
          <a:p>
            <a:pPr marL="0" indent="0">
              <a:buNone/>
            </a:pPr>
            <a:endParaRPr lang="en-US" u="sng"/>
          </a:p>
          <a:p>
            <a:r>
              <a:rPr lang="en-US"/>
              <a:t>Defense technology and cybersecurity contractor</a:t>
            </a:r>
          </a:p>
          <a:p>
            <a:r>
              <a:rPr lang="en-US"/>
              <a:t>Provides mission critical systems to protect the JN </a:t>
            </a:r>
            <a:r>
              <a:rPr lang="en-US">
                <a:latin typeface="Aptos" panose="020B0004020202020204"/>
                <a:cs typeface="Segoe UI"/>
              </a:rPr>
              <a:t> (Joint Nations of </a:t>
            </a:r>
            <a:r>
              <a:rPr lang="en-US" err="1">
                <a:latin typeface="Aptos" panose="020B0004020202020204"/>
                <a:cs typeface="Segoe UI"/>
              </a:rPr>
              <a:t>Vespuccica</a:t>
            </a:r>
            <a:r>
              <a:rPr lang="en-US">
                <a:latin typeface="Aptos"/>
                <a:cs typeface="Segoe UI"/>
              </a:rPr>
              <a:t>)</a:t>
            </a:r>
          </a:p>
          <a:p>
            <a:r>
              <a:rPr lang="en-US"/>
              <a:t>Specializes in advanced threat detection, secure communications, logistics systems, and R&amp;D innovation</a:t>
            </a:r>
          </a:p>
          <a:p>
            <a:r>
              <a:rPr lang="en-US"/>
              <a:t>Operates under national security requirements and federal contract standards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9BC6FA3-FCEB-3054-B9D6-D74F117AB5D9}"/>
              </a:ext>
            </a:extLst>
          </p:cNvPr>
          <p:cNvSpPr txBox="1">
            <a:spLocks/>
          </p:cNvSpPr>
          <p:nvPr/>
        </p:nvSpPr>
        <p:spPr>
          <a:xfrm>
            <a:off x="842158" y="1220148"/>
            <a:ext cx="10505704" cy="3557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u="sng"/>
              <a:t>Why cybersecurity compliance is essential</a:t>
            </a:r>
          </a:p>
        </p:txBody>
      </p:sp>
    </p:spTree>
    <p:extLst>
      <p:ext uri="{BB962C8B-B14F-4D97-AF65-F5344CB8AC3E}">
        <p14:creationId xmlns:p14="http://schemas.microsoft.com/office/powerpoint/2010/main" val="198379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308CD-CF70-DFA6-93E6-128EBD92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A028-AE39-A40F-ED94-42D19D6D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Mission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DB0C1-D1B0-38E0-5B6C-F63792E404E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Develop innovative technologies to safeguard the J.N., focusing on the most difficult problems in defense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Supports warfighters and defense agencies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Maintain secure and resilient operations 24/7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Advance national technology superiority</a:t>
            </a:r>
          </a:p>
        </p:txBody>
      </p:sp>
    </p:spTree>
    <p:extLst>
      <p:ext uri="{BB962C8B-B14F-4D97-AF65-F5344CB8AC3E}">
        <p14:creationId xmlns:p14="http://schemas.microsoft.com/office/powerpoint/2010/main" val="191538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D263A-B19E-24C1-BF84-38D12AF2C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8C38-E43E-09C2-6202-A0FC5896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4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Why Compliance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542B-69E4-6067-CFBD-5FA38614B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/>
              <a:t>Compliance protects sensitive and classified defense data</a:t>
            </a:r>
          </a:p>
          <a:p>
            <a:pPr marL="457200" indent="-457200"/>
            <a:r>
              <a:rPr lang="en-US"/>
              <a:t>Compliance Maintains federal contract eligibility</a:t>
            </a:r>
          </a:p>
          <a:p>
            <a:pPr marL="457200" indent="-457200"/>
            <a:r>
              <a:rPr lang="en-US"/>
              <a:t>Compliance Prevents breaches that can jeopardize national security</a:t>
            </a:r>
          </a:p>
          <a:p>
            <a:pPr marL="457200" indent="-457200"/>
            <a:r>
              <a:rPr lang="en-US"/>
              <a:t>Compliance Builds trust with government partners and stakeholders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5C6226-CF37-D6F3-5A5F-1209E7CD00F1}"/>
              </a:ext>
            </a:extLst>
          </p:cNvPr>
          <p:cNvSpPr txBox="1">
            <a:spLocks/>
          </p:cNvSpPr>
          <p:nvPr/>
        </p:nvSpPr>
        <p:spPr>
          <a:xfrm>
            <a:off x="842158" y="1230044"/>
            <a:ext cx="10505704" cy="3557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u="sng"/>
              <a:t>Why cybersecurity compliance is essential</a:t>
            </a:r>
          </a:p>
        </p:txBody>
      </p:sp>
    </p:spTree>
    <p:extLst>
      <p:ext uri="{BB962C8B-B14F-4D97-AF65-F5344CB8AC3E}">
        <p14:creationId xmlns:p14="http://schemas.microsoft.com/office/powerpoint/2010/main" val="389278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77CC-253E-06AE-A9E0-AFE8CC7B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46F2-16FA-F79E-E2F7-929F8FD6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4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Compliance frameworks we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44BA-C1D0-4153-2244-C9D60E4F6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NIST SP 800-53</a:t>
            </a:r>
          </a:p>
          <a:p>
            <a:pPr marL="457200" indent="-457200"/>
            <a:r>
              <a:rPr lang="en-US"/>
              <a:t>Security and privacy controls for federal systems</a:t>
            </a:r>
          </a:p>
          <a:p>
            <a:pPr marL="457200" indent="-457200"/>
            <a:r>
              <a:rPr lang="en-US"/>
              <a:t>Builds a secure foundation across GN operations</a:t>
            </a:r>
          </a:p>
          <a:p>
            <a:pPr marL="0" indent="0">
              <a:buNone/>
            </a:pPr>
            <a:r>
              <a:rPr lang="en-US"/>
              <a:t>NIST SP 800-171</a:t>
            </a:r>
          </a:p>
          <a:p>
            <a:pPr marL="457200" indent="-457200"/>
            <a:r>
              <a:rPr lang="en-US"/>
              <a:t>Protects controlled unclassified information (CUI)</a:t>
            </a:r>
          </a:p>
          <a:p>
            <a:pPr marL="457200" indent="-457200"/>
            <a:r>
              <a:rPr lang="en-US"/>
              <a:t>Required for federal defense-controlled eligibility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053948-8DAB-EDD4-9B18-A25B6AE4534E}"/>
              </a:ext>
            </a:extLst>
          </p:cNvPr>
          <p:cNvSpPr txBox="1">
            <a:spLocks/>
          </p:cNvSpPr>
          <p:nvPr/>
        </p:nvSpPr>
        <p:spPr>
          <a:xfrm>
            <a:off x="842158" y="1230044"/>
            <a:ext cx="10505704" cy="345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u="sng"/>
              <a:t>Compliance with NIST standards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54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B45DAA6A-1794-8E81-E9EE-256668C309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8" b="9996"/>
          <a:stretch>
            <a:fillRect/>
          </a:stretch>
        </p:blipFill>
        <p:spPr>
          <a:xfrm>
            <a:off x="-1" y="-1"/>
            <a:ext cx="11416413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13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646BB-95D5-1B35-F8C0-A8A13471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1948171"/>
            <a:ext cx="4501057" cy="26613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Information Systems Overview + Security Components</a:t>
            </a:r>
          </a:p>
        </p:txBody>
      </p:sp>
    </p:spTree>
    <p:extLst>
      <p:ext uri="{BB962C8B-B14F-4D97-AF65-F5344CB8AC3E}">
        <p14:creationId xmlns:p14="http://schemas.microsoft.com/office/powerpoint/2010/main" val="261414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94859-CEC7-5DFC-9471-C03539C5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8354-EE2A-C476-8FB3-5F5DD153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4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Core Information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557E-D0DB-501C-1F58-B0A5C90F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/>
              <a:t>GN-TDS: Threat Detection System</a:t>
            </a:r>
          </a:p>
          <a:p>
            <a:pPr marL="457200" indent="-457200"/>
            <a:r>
              <a:rPr lang="en-US"/>
              <a:t>GN-RDE: Research and Development Environment</a:t>
            </a:r>
          </a:p>
          <a:p>
            <a:pPr marL="457200" indent="-457200"/>
            <a:r>
              <a:rPr lang="en-US"/>
              <a:t>GN-CWA: Contractor Workforce Access System</a:t>
            </a:r>
          </a:p>
          <a:p>
            <a:pPr marL="457200" indent="-457200"/>
            <a:r>
              <a:rPr lang="en-US"/>
              <a:t>GN-LCS: Logistics and Communication Systems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E39929-593B-B79F-777F-FFC5E114530E}"/>
              </a:ext>
            </a:extLst>
          </p:cNvPr>
          <p:cNvSpPr txBox="1">
            <a:spLocks/>
          </p:cNvSpPr>
          <p:nvPr/>
        </p:nvSpPr>
        <p:spPr>
          <a:xfrm>
            <a:off x="842158" y="1219312"/>
            <a:ext cx="10505704" cy="345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u="sng"/>
              <a:t>Mission Critical Cyber Systems</a:t>
            </a:r>
          </a:p>
        </p:txBody>
      </p:sp>
    </p:spTree>
    <p:extLst>
      <p:ext uri="{BB962C8B-B14F-4D97-AF65-F5344CB8AC3E}">
        <p14:creationId xmlns:p14="http://schemas.microsoft.com/office/powerpoint/2010/main" val="157343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2DD9-9AC0-13D4-C456-9DEBACFD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ED53-F0C4-5B7A-A191-683BDD3F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600"/>
              <a:t>GN-TDS: Threat Detection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A08E1-7E3E-71C0-A591-E7D684203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1909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it does:</a:t>
            </a:r>
          </a:p>
          <a:p>
            <a:r>
              <a:rPr lang="en-US"/>
              <a:t>Monitors national threat indicators</a:t>
            </a:r>
          </a:p>
          <a:p>
            <a:r>
              <a:rPr lang="en-US"/>
              <a:t>Collects real time telemetry and adversarial activity data</a:t>
            </a:r>
          </a:p>
          <a:p>
            <a:r>
              <a:rPr lang="en-US"/>
              <a:t>Supports mission critical defense decisions</a:t>
            </a:r>
          </a:p>
          <a:p>
            <a:pPr marL="0" indent="0">
              <a:buNone/>
            </a:pPr>
            <a:r>
              <a:rPr lang="en-US"/>
              <a:t>Key Security Components</a:t>
            </a:r>
          </a:p>
          <a:p>
            <a:r>
              <a:rPr lang="en-US"/>
              <a:t>SIEM + IDS/IPS security tools</a:t>
            </a:r>
          </a:p>
          <a:p>
            <a:r>
              <a:rPr lang="en-US"/>
              <a:t>24/7 Availability – hot failover site</a:t>
            </a:r>
          </a:p>
          <a:p>
            <a:r>
              <a:rPr lang="en-US"/>
              <a:t>Immutable log preservation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2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BEFF-3536-2431-4358-630CEEB4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235F-64AD-FED8-7E54-F48BE4D2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600"/>
              <a:t>GN-RDE: Research and Development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D07BD-949B-BE3D-5887-689C64C1265D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it does</a:t>
            </a:r>
          </a:p>
          <a:p>
            <a:r>
              <a:rPr lang="en-US"/>
              <a:t>Stores prototypes, classified engineering work</a:t>
            </a:r>
          </a:p>
          <a:p>
            <a:r>
              <a:rPr lang="en-US"/>
              <a:t>Develops and researches new technologies</a:t>
            </a:r>
          </a:p>
          <a:p>
            <a:pPr marL="0" indent="0">
              <a:buNone/>
            </a:pPr>
            <a:r>
              <a:rPr lang="en-US"/>
              <a:t>Key Security Components</a:t>
            </a:r>
          </a:p>
          <a:p>
            <a:r>
              <a:rPr lang="en-US"/>
              <a:t>Encrypted source code repositories</a:t>
            </a:r>
          </a:p>
          <a:p>
            <a:r>
              <a:rPr lang="en-US"/>
              <a:t>Version control integrity</a:t>
            </a:r>
          </a:p>
          <a:p>
            <a:r>
              <a:rPr lang="en-US"/>
              <a:t>Zero trust access segmentation</a:t>
            </a:r>
          </a:p>
          <a:p>
            <a:r>
              <a:rPr lang="en-US"/>
              <a:t>Internal only network zone</a:t>
            </a:r>
          </a:p>
        </p:txBody>
      </p:sp>
    </p:spTree>
    <p:extLst>
      <p:ext uri="{BB962C8B-B14F-4D97-AF65-F5344CB8AC3E}">
        <p14:creationId xmlns:p14="http://schemas.microsoft.com/office/powerpoint/2010/main" val="250303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BF37-9E4E-1A04-C49A-E88124EB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971D-2451-3CF5-7CB9-1EE04E92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br>
              <a:rPr lang="en-US" sz="3600">
                <a:latin typeface="Aptos"/>
              </a:rPr>
            </a:br>
            <a:r>
              <a:rPr lang="en-US" sz="3600">
                <a:latin typeface="Aptos"/>
              </a:rPr>
              <a:t>GN-CWA: Contractor Workforce Access System</a:t>
            </a:r>
          </a:p>
          <a:p>
            <a:endParaRPr lang="en-US" sz="360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51A7D-77D4-09F9-6A17-AEAB4ED90002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it does</a:t>
            </a:r>
          </a:p>
          <a:p>
            <a:r>
              <a:rPr lang="en-US"/>
              <a:t>Controls access to GN facilities and digital systems</a:t>
            </a:r>
          </a:p>
          <a:p>
            <a:r>
              <a:rPr lang="en-US"/>
              <a:t>Tracks authentication logs and identity metadata</a:t>
            </a:r>
          </a:p>
          <a:p>
            <a:pPr marL="0" indent="0">
              <a:buNone/>
            </a:pPr>
            <a:r>
              <a:rPr lang="en-US"/>
              <a:t>Key security components</a:t>
            </a:r>
          </a:p>
          <a:p>
            <a:r>
              <a:rPr lang="en-US"/>
              <a:t>Multi Factor Authentication</a:t>
            </a:r>
          </a:p>
          <a:p>
            <a:r>
              <a:rPr lang="en-US"/>
              <a:t>Privileged Access Management</a:t>
            </a:r>
          </a:p>
          <a:p>
            <a:r>
              <a:rPr lang="en-US"/>
              <a:t>Identity Lifecycle management</a:t>
            </a:r>
          </a:p>
          <a:p>
            <a:r>
              <a:rPr lang="en-US"/>
              <a:t>Continuous monitoring for unauthorized entry.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6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7A4D4-1ABB-1C94-54C9-9CFC83AB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B090-3146-0CBF-0BBA-D4AC0AAC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600">
                <a:latin typeface="Aptos"/>
                <a:ea typeface="Arial"/>
                <a:cs typeface="Arial"/>
              </a:rPr>
              <a:t>GN-LCS: Logistics and Secure Communication Systems​</a:t>
            </a:r>
            <a:endParaRPr lang="en-US" sz="3600">
              <a:latin typeface="Apto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8BF68-0CD1-ABE0-FCA7-14F7E001B7F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it does</a:t>
            </a:r>
          </a:p>
          <a:p>
            <a:r>
              <a:rPr lang="en-US"/>
              <a:t>Coordinate supply chain + secure communications</a:t>
            </a:r>
          </a:p>
          <a:p>
            <a:r>
              <a:rPr lang="en-US"/>
              <a:t>Tracks equipment movement and Timing of defense assets</a:t>
            </a:r>
          </a:p>
          <a:p>
            <a:pPr marL="0" indent="0">
              <a:buNone/>
            </a:pPr>
            <a:r>
              <a:rPr lang="en-US"/>
              <a:t>Key security Components</a:t>
            </a:r>
          </a:p>
          <a:p>
            <a:r>
              <a:rPr lang="en-US"/>
              <a:t>PKI-based encrypted messaging</a:t>
            </a:r>
          </a:p>
          <a:p>
            <a:r>
              <a:rPr lang="en-US"/>
              <a:t>Inventory integrity checks</a:t>
            </a:r>
          </a:p>
          <a:p>
            <a:r>
              <a:rPr lang="en-US"/>
              <a:t>Vendor/Partner access controls</a:t>
            </a:r>
          </a:p>
        </p:txBody>
      </p:sp>
    </p:spTree>
    <p:extLst>
      <p:ext uri="{BB962C8B-B14F-4D97-AF65-F5344CB8AC3E}">
        <p14:creationId xmlns:p14="http://schemas.microsoft.com/office/powerpoint/2010/main" val="606321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81BE9-BA6C-BAE5-31C9-723BFD80B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EA22-CD10-CDAE-7FE5-83E8D0AC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600"/>
              <a:t>GN-TDS Security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21AF4-31D5-9427-83D3-1DA1A109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1909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A ransomware attack scenario where GN-TDS security mechanisms detects the threat, isolates the affected systems, and restores operations using secure, immutable backups.</a:t>
            </a:r>
          </a:p>
          <a:p>
            <a:pPr marL="514350" indent="-514350">
              <a:buAutoNum type="arabicPeriod"/>
            </a:pPr>
            <a:r>
              <a:rPr lang="en-US"/>
              <a:t>Detection: SOC receives alert from SIEM/IDS</a:t>
            </a:r>
          </a:p>
          <a:p>
            <a:pPr marL="514350" indent="-514350">
              <a:buAutoNum type="arabicPeriod"/>
            </a:pPr>
            <a:r>
              <a:rPr lang="en-US"/>
              <a:t>Containment: Infected systems isolated from the network</a:t>
            </a:r>
          </a:p>
          <a:p>
            <a:pPr marL="514350" indent="-514350">
              <a:buAutoNum type="arabicPeriod"/>
            </a:pPr>
            <a:r>
              <a:rPr lang="en-US"/>
              <a:t>Eradication: Malware removed and vulnerabilities patched.</a:t>
            </a:r>
          </a:p>
          <a:p>
            <a:pPr marL="514350" indent="-514350">
              <a:buAutoNum type="arabicPeriod"/>
            </a:pPr>
            <a:r>
              <a:rPr lang="en-US"/>
              <a:t>Recovery: Immutable backups restored to ensure data integrity.</a:t>
            </a:r>
          </a:p>
          <a:p>
            <a:pPr marL="514350" indent="-514350">
              <a:buAutoNum type="arabicPeriod"/>
            </a:pPr>
            <a:r>
              <a:rPr lang="en-US"/>
              <a:t>Continuity: Failover site keeps TDS operational.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0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87E288-05C2-6923-1EB5-11385C71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Disaster recovery plan and business continuity plan demo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215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7ACC-11CB-D368-13E9-42C6A73621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Risk Assessment and Business Impact Analysis (BIA)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4F835-029E-C0CF-59F5-AD32B6C86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577"/>
            <a:ext cx="10515600" cy="4351338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Based on likelihood &amp; impact model</a:t>
            </a:r>
          </a:p>
          <a:p>
            <a:r>
              <a:rPr lang="en-US">
                <a:ea typeface="+mn-lt"/>
                <a:cs typeface="+mn-lt"/>
              </a:rPr>
              <a:t>Determines: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RTO (max acceptable downtime), RPO (maximum acceptable data loss in time)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Critical business functions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System dependencies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Financial impact per hour/day</a:t>
            </a:r>
          </a:p>
          <a:p>
            <a:r>
              <a:rPr lang="en-US"/>
              <a:t>Higher risk = more resources allowed. I.E. on call resources, overtime, external contractors (retainers/service fees), software, etc.</a:t>
            </a:r>
          </a:p>
        </p:txBody>
      </p:sp>
    </p:spTree>
    <p:extLst>
      <p:ext uri="{BB962C8B-B14F-4D97-AF65-F5344CB8AC3E}">
        <p14:creationId xmlns:p14="http://schemas.microsoft.com/office/powerpoint/2010/main" val="369236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62424-D13F-5CE6-A6D8-39B907618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3285-A76B-8CAE-12FD-05ABD7EA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Data backups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6580-B6E1-4EAD-3C6D-263DD970A7B1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3-2-1 Backup Rule: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3 copies of data: Primary data plus two backup copies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2 different media types: local and encrypted cloud storage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1 offsite/cloud copy: Stored in an isolated and geographically different environment</a:t>
            </a:r>
          </a:p>
          <a:p>
            <a:r>
              <a:rPr lang="en-US">
                <a:ea typeface="+mn-lt"/>
                <a:cs typeface="+mn-lt"/>
              </a:rPr>
              <a:t>Backups encrypted while at rest, </a:t>
            </a:r>
            <a:r>
              <a:rPr lang="en-US" err="1">
                <a:ea typeface="+mn-lt"/>
                <a:cs typeface="+mn-lt"/>
              </a:rPr>
              <a:t>airgapped</a:t>
            </a:r>
            <a:r>
              <a:rPr lang="en-US">
                <a:ea typeface="+mn-lt"/>
                <a:cs typeface="+mn-lt"/>
              </a:rPr>
              <a:t> for long-term storage</a:t>
            </a:r>
          </a:p>
          <a:p>
            <a:r>
              <a:rPr lang="en-US">
                <a:ea typeface="+mn-lt"/>
                <a:cs typeface="+mn-lt"/>
              </a:rPr>
              <a:t>Version history, immutable backups protect against corruption</a:t>
            </a:r>
          </a:p>
          <a:p>
            <a:r>
              <a:rPr lang="en-US">
                <a:ea typeface="+mn-lt"/>
                <a:cs typeface="+mn-lt"/>
              </a:rPr>
              <a:t>Procedures reviewed quarterly</a:t>
            </a:r>
          </a:p>
        </p:txBody>
      </p:sp>
    </p:spTree>
    <p:extLst>
      <p:ext uri="{BB962C8B-B14F-4D97-AF65-F5344CB8AC3E}">
        <p14:creationId xmlns:p14="http://schemas.microsoft.com/office/powerpoint/2010/main" val="677045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B3E6-9274-3CAC-58AB-B741E000C61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Incident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34C6-D26F-4386-BB83-03F601F7E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577"/>
            <a:ext cx="10515600" cy="4351338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SOC detects unusual activity, investigates, and confirms</a:t>
            </a:r>
          </a:p>
          <a:p>
            <a:r>
              <a:rPr lang="en-US"/>
              <a:t>Short-term containment prevents further damage, can cause shutdowns pursuant to RTO</a:t>
            </a:r>
          </a:p>
          <a:p>
            <a:r>
              <a:rPr lang="en-US"/>
              <a:t>Immediately begin communication plan (later slide)</a:t>
            </a:r>
          </a:p>
          <a:p>
            <a:r>
              <a:rPr lang="en-US"/>
              <a:t>Long-term containment returns unaffected portions of systems to working state while keeping the affected portion apart for recovery</a:t>
            </a:r>
          </a:p>
          <a:p>
            <a:r>
              <a:rPr lang="en-US"/>
              <a:t>Eradicate threat from systems</a:t>
            </a:r>
          </a:p>
          <a:p>
            <a:r>
              <a:rPr lang="en-US"/>
              <a:t>Recovery (next slide)</a:t>
            </a:r>
          </a:p>
          <a:p>
            <a:r>
              <a:rPr lang="en-US"/>
              <a:t>After-Action Review for 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2035361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E9DD-10C6-495D-976C-8ABD004062D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Recovery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EEE33-4921-E680-0FF5-CB18C90C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577"/>
            <a:ext cx="10515600" cy="4351338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Systems are restored in priority order based on disaster recovery plan</a:t>
            </a:r>
          </a:p>
          <a:p>
            <a:r>
              <a:rPr lang="en-US"/>
              <a:t>Dependencies are considered as well</a:t>
            </a:r>
          </a:p>
          <a:p>
            <a:r>
              <a:rPr lang="en-US"/>
              <a:t>Backup sites/systems can carry operations while primary is in recovery</a:t>
            </a:r>
          </a:p>
          <a:p>
            <a:r>
              <a:rPr lang="en-US"/>
              <a:t>Configurations should remain as before, unless an obvious vulnerability. Non-urgent changes can be raised in the AAR.</a:t>
            </a:r>
          </a:p>
          <a:p>
            <a:r>
              <a:rPr lang="en-US"/>
              <a:t>Function checks: </a:t>
            </a:r>
            <a:r>
              <a:rPr lang="en-US">
                <a:ea typeface="+mn-lt"/>
                <a:cs typeface="+mn-lt"/>
              </a:rPr>
              <a:t>integrity checks, access tests, log reviews, and functionality tests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38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B3C8-7849-C3B1-875A-51BF0626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713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FC8D-92F1-E8F5-CA44-70F78DC42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97"/>
            <a:ext cx="10515600" cy="5101241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Chain of command is informed immediately on incident, higher as severity rises</a:t>
            </a:r>
          </a:p>
          <a:p>
            <a:r>
              <a:rPr lang="en-US">
                <a:ea typeface="+mn-lt"/>
                <a:cs typeface="+mn-lt"/>
              </a:rPr>
              <a:t>Disaster Recovery Coordinator → GN Cybersecurity Defense Force → Executive Leadership → System Owners → All Personnel</a:t>
            </a:r>
            <a:endParaRPr lang="en-US"/>
          </a:p>
          <a:p>
            <a:r>
              <a:rPr lang="en-US"/>
              <a:t>Personnel: </a:t>
            </a:r>
            <a:r>
              <a:rPr lang="en-US">
                <a:ea typeface="+mn-lt"/>
                <a:cs typeface="+mn-lt"/>
              </a:rPr>
              <a:t>Informed via GN’s secured communication channels (encrypted email, GN Emergency App)</a:t>
            </a:r>
          </a:p>
          <a:p>
            <a:r>
              <a:rPr lang="en-US"/>
              <a:t>Customers/partners: </a:t>
            </a:r>
            <a:r>
              <a:rPr lang="en-US">
                <a:ea typeface="+mn-lt"/>
                <a:cs typeface="+mn-lt"/>
              </a:rPr>
              <a:t>Pre-approved messages inform J.N., defense partners, contractors, and compliance authorities about system status, recovery steps, and timelines</a:t>
            </a:r>
          </a:p>
          <a:p>
            <a:r>
              <a:rPr lang="en-US"/>
              <a:t>Media/PR: </a:t>
            </a:r>
            <a:r>
              <a:rPr lang="en-US">
                <a:ea typeface="+mn-lt"/>
                <a:cs typeface="+mn-lt"/>
              </a:rPr>
              <a:t>Only GN’s Communications Lead or Executive Spokesperson issue statements</a:t>
            </a:r>
            <a:endParaRPr lang="en-US"/>
          </a:p>
          <a:p>
            <a:r>
              <a:rPr lang="en-US"/>
              <a:t>Regulatory: only required notifications are required, other comms opened on executive leadership's discretion</a:t>
            </a:r>
          </a:p>
        </p:txBody>
      </p:sp>
    </p:spTree>
    <p:extLst>
      <p:ext uri="{BB962C8B-B14F-4D97-AF65-F5344CB8AC3E}">
        <p14:creationId xmlns:p14="http://schemas.microsoft.com/office/powerpoint/2010/main" val="909507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178E3-1174-0425-3F15-3744442EF77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F37C-E20A-EEA7-3D99-0169A3FDC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577"/>
            <a:ext cx="10515600" cy="4351338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Based on above; Operations switch to backup systems where possible; details worked out with individual vendors/contractors</a:t>
            </a:r>
          </a:p>
          <a:p>
            <a:r>
              <a:rPr lang="en-US"/>
              <a:t>Redundant secure communications channels</a:t>
            </a:r>
          </a:p>
          <a:p>
            <a:r>
              <a:rPr lang="en-US"/>
              <a:t>Staff may be switched to alternate tasks within their domain while the systems necessary for their primary are down</a:t>
            </a:r>
          </a:p>
          <a:p>
            <a:r>
              <a:rPr lang="en-US"/>
              <a:t>Physical systems (i.e. manufacturing) should be able to run offline, or even without data systems for 48 hours, the length of downtime permitted by the RTO</a:t>
            </a:r>
          </a:p>
        </p:txBody>
      </p:sp>
    </p:spTree>
    <p:extLst>
      <p:ext uri="{BB962C8B-B14F-4D97-AF65-F5344CB8AC3E}">
        <p14:creationId xmlns:p14="http://schemas.microsoft.com/office/powerpoint/2010/main" val="4128565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063A3ED1-6F18-F42D-A394-7F5537B665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-2" b="1560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E648EF-87AD-26DA-D6F2-D8493BE28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700561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2ACD-F59D-5016-EA0B-DC7F500C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E28C-50AA-1C99-6D8B-627629301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4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CA81A-E69B-D909-930C-CE06EC8B7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How NIST security frameworks can be effectively applied within organizations.</a:t>
            </a:r>
          </a:p>
          <a:p>
            <a:r>
              <a:rPr lang="en-US">
                <a:ea typeface="+mn-lt"/>
                <a:cs typeface="+mn-lt"/>
              </a:rPr>
              <a:t>The importance of compliance and the consequences of noncompliance.</a:t>
            </a:r>
          </a:p>
          <a:p>
            <a:r>
              <a:rPr lang="en-US">
                <a:ea typeface="+mn-lt"/>
                <a:cs typeface="+mn-lt"/>
              </a:rPr>
              <a:t>The importance of risk-based security and prioritizing mission-critical systems.</a:t>
            </a:r>
          </a:p>
          <a:p>
            <a:r>
              <a:rPr lang="en-US">
                <a:ea typeface="+mn-lt"/>
                <a:cs typeface="+mn-lt"/>
              </a:rPr>
              <a:t>Why Disaster Recovery and Business Continuity planning are essential.</a:t>
            </a:r>
          </a:p>
          <a:p>
            <a:r>
              <a:rPr lang="en-US">
                <a:ea typeface="+mn-lt"/>
                <a:cs typeface="+mn-lt"/>
              </a:rPr>
              <a:t>How backup strategies and recovery objectives significantly influence restoration success</a:t>
            </a:r>
            <a:endParaRPr lang="en-US"/>
          </a:p>
          <a:p>
            <a:pPr marL="457200" indent="-457200"/>
            <a:endParaRPr lang="en-US"/>
          </a:p>
          <a:p>
            <a:pPr marL="457200" indent="-457200"/>
            <a:endParaRPr lang="en-US"/>
          </a:p>
          <a:p>
            <a:pPr marL="457200" indent="-45720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7794B4-909C-8DE5-B127-E3F0338F2309}"/>
              </a:ext>
            </a:extLst>
          </p:cNvPr>
          <p:cNvSpPr txBox="1">
            <a:spLocks/>
          </p:cNvSpPr>
          <p:nvPr/>
        </p:nvSpPr>
        <p:spPr>
          <a:xfrm>
            <a:off x="842158" y="1219312"/>
            <a:ext cx="10505704" cy="345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u="sng"/>
              <a:t>Key takeaways from this project</a:t>
            </a:r>
          </a:p>
        </p:txBody>
      </p:sp>
    </p:spTree>
    <p:extLst>
      <p:ext uri="{BB962C8B-B14F-4D97-AF65-F5344CB8AC3E}">
        <p14:creationId xmlns:p14="http://schemas.microsoft.com/office/powerpoint/2010/main" val="1552477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8D322-E862-B3F6-E228-BC12B832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CE88-D629-7A6D-0B13-6D6CA8195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4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Skills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01CF-7F6E-DDC5-7B82-ECC4BE4AF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Conducting risk assessments and business impact analyses</a:t>
            </a:r>
          </a:p>
          <a:p>
            <a:r>
              <a:rPr lang="en-US">
                <a:ea typeface="+mn-lt"/>
                <a:cs typeface="+mn-lt"/>
              </a:rPr>
              <a:t>Creating enforceable and effective security policies</a:t>
            </a:r>
          </a:p>
          <a:p>
            <a:r>
              <a:rPr lang="en-US">
                <a:ea typeface="+mn-lt"/>
                <a:cs typeface="+mn-lt"/>
              </a:rPr>
              <a:t>Applying NIST standards within an organizational environment</a:t>
            </a:r>
          </a:p>
          <a:p>
            <a:r>
              <a:rPr lang="en-US">
                <a:ea typeface="+mn-lt"/>
                <a:cs typeface="+mn-lt"/>
              </a:rPr>
              <a:t>Establishing a NIST Cybersecurity Framework (CSF) profile</a:t>
            </a:r>
          </a:p>
          <a:p>
            <a:r>
              <a:rPr lang="en-US">
                <a:ea typeface="+mn-lt"/>
                <a:cs typeface="+mn-lt"/>
              </a:rPr>
              <a:t>Prioritizing security decisions based on risk and mission impact</a:t>
            </a:r>
          </a:p>
          <a:p>
            <a:r>
              <a:rPr lang="en-US">
                <a:ea typeface="+mn-lt"/>
                <a:cs typeface="+mn-lt"/>
              </a:rPr>
              <a:t>Identifying vulnerabilities and developing actionable mitigation plans</a:t>
            </a:r>
          </a:p>
          <a:p>
            <a:endParaRPr lang="en-US"/>
          </a:p>
          <a:p>
            <a:pPr marL="457200" indent="-45720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EC46A1-1B6E-F0D4-4402-E56AC8DD989C}"/>
              </a:ext>
            </a:extLst>
          </p:cNvPr>
          <p:cNvSpPr txBox="1">
            <a:spLocks/>
          </p:cNvSpPr>
          <p:nvPr/>
        </p:nvSpPr>
        <p:spPr>
          <a:xfrm>
            <a:off x="842158" y="1219312"/>
            <a:ext cx="10505704" cy="345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u="sng"/>
              <a:t>Practical Skills Developed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41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D807-C417-FC87-E402-F96F7248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B6C4F-2B66-8B14-4D13-3DDA10BA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044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Future Career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EF9A7-AABF-604D-732E-84C7A6A70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23"/>
            <a:ext cx="10515600" cy="459874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Builds real-world cyber defense skills used across modern organizations.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Supports entry into cybersecurity and compliance roles in the workforce.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Strengthens crisis communication and coordination skills which are essential in cybersecurity careers.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Provides familiarity with federal cybersecurity expectations and NIST standards.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Improves our ability to maintain secure operations before, during, and after cyber incidents.</a:t>
            </a:r>
            <a:endParaRPr lang="en-US"/>
          </a:p>
          <a:p>
            <a:pPr marL="457200" indent="-457200"/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E7C331-B52B-712E-3A6E-1F860506AFF4}"/>
              </a:ext>
            </a:extLst>
          </p:cNvPr>
          <p:cNvSpPr txBox="1">
            <a:spLocks/>
          </p:cNvSpPr>
          <p:nvPr/>
        </p:nvSpPr>
        <p:spPr>
          <a:xfrm>
            <a:off x="842158" y="1219312"/>
            <a:ext cx="10505704" cy="3458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u="sng"/>
              <a:t>How this supports our future career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55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D638-AFD5-1B0B-D8AE-A37C1699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26C3-D521-1A10-2687-7BD311CB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421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2885-74B9-66E6-EB85-1074F5007E2C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project showed us that cybersecurity isn't only about stopping attacks; it's about ensuring that organizations can continue to operate no matter the threat they face.</a:t>
            </a:r>
          </a:p>
        </p:txBody>
      </p:sp>
    </p:spTree>
    <p:extLst>
      <p:ext uri="{BB962C8B-B14F-4D97-AF65-F5344CB8AC3E}">
        <p14:creationId xmlns:p14="http://schemas.microsoft.com/office/powerpoint/2010/main" val="544433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Gorthrup Nrumman</vt:lpstr>
      <vt:lpstr>Organization Overview + Mission Compliance</vt:lpstr>
      <vt:lpstr>Who is Gorthrup Nrumman</vt:lpstr>
      <vt:lpstr>Mission Statement</vt:lpstr>
      <vt:lpstr>Why Compliance Matters</vt:lpstr>
      <vt:lpstr>Compliance frameworks we follow</vt:lpstr>
      <vt:lpstr>Information Systems Overview + Security Components</vt:lpstr>
      <vt:lpstr>Core Information Systems</vt:lpstr>
      <vt:lpstr>GN-TDS: Threat Detection System</vt:lpstr>
      <vt:lpstr>GN-RDE: Research and Development Environment</vt:lpstr>
      <vt:lpstr> GN-CWA: Contractor Workforce Access System </vt:lpstr>
      <vt:lpstr>GN-LCS: Logistics and Secure Communication Systems​</vt:lpstr>
      <vt:lpstr>GN-TDS Security Demonstration</vt:lpstr>
      <vt:lpstr>Disaster recovery plan and business continuity plan demo</vt:lpstr>
      <vt:lpstr>Risk Assessment and Business Impact Analysis (BIA)</vt:lpstr>
      <vt:lpstr>Data backups</vt:lpstr>
      <vt:lpstr>Incident Response</vt:lpstr>
      <vt:lpstr>Recovery</vt:lpstr>
      <vt:lpstr>Communication</vt:lpstr>
      <vt:lpstr>Continuity</vt:lpstr>
      <vt:lpstr>Conclusion</vt:lpstr>
      <vt:lpstr>What we learned</vt:lpstr>
      <vt:lpstr>Skills Gained</vt:lpstr>
      <vt:lpstr>Future Career preparation</vt:lpstr>
      <vt:lpstr>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2025-12-05T15:57:36Z</dcterms:created>
  <dcterms:modified xsi:type="dcterms:W3CDTF">2026-07-05T16:54:20Z</dcterms:modified>
</cp:coreProperties>
</file>