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63" r:id="rId3"/>
    <p:sldId id="264" r:id="rId4"/>
    <p:sldId id="269" r:id="rId5"/>
    <p:sldId id="265" r:id="rId6"/>
    <p:sldId id="270" r:id="rId7"/>
    <p:sldId id="266" r:id="rId8"/>
    <p:sldId id="267" r:id="rId9"/>
    <p:sldId id="268"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E347E9-1EEC-6F8A-0608-24DABCBEA025}" v="186" dt="2026-04-27T02:44:36.999"/>
    <p1510:client id="{82F9A9DA-8EBF-7291-26F2-7693B33C5C53}" v="1959" dt="2026-04-27T02:03:37.698"/>
    <p1510:client id="{983BADA9-9B34-6B59-0DC2-5C5BC37EB16E}" v="18" dt="2026-04-27T00:47:18.246"/>
    <p1510:client id="{9911955F-B38A-845D-E618-2221CC6C09B5}" v="3" dt="2026-04-27T18:14:03.0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BED07-6713-92AA-40AF-AE58F4F83C7A}"/>
              </a:ext>
            </a:extLst>
          </p:cNvPr>
          <p:cNvSpPr>
            <a:spLocks noGrp="1"/>
          </p:cNvSpPr>
          <p:nvPr>
            <p:ph type="subTitle" idx="1"/>
          </p:nvPr>
        </p:nvSpPr>
        <p:spPr>
          <a:xfrm>
            <a:off x="1295400" y="4701464"/>
            <a:ext cx="8952782" cy="1204036"/>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C9EF77-BF49-E4C1-0FC7-563354777900}"/>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5" name="Footer Placeholder 4">
            <a:extLst>
              <a:ext uri="{FF2B5EF4-FFF2-40B4-BE49-F238E27FC236}">
                <a16:creationId xmlns:a16="http://schemas.microsoft.com/office/drawing/2014/main" id="{72BD5853-25AA-1C3D-EAD2-496674792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F0DAD-5850-CAAE-CD25-4D6DDDFF3A18}"/>
              </a:ext>
            </a:extLst>
          </p:cNvPr>
          <p:cNvSpPr>
            <a:spLocks noGrp="1"/>
          </p:cNvSpPr>
          <p:nvPr>
            <p:ph type="sldNum" sz="quarter" idx="12"/>
          </p:nvPr>
        </p:nvSpPr>
        <p:spPr/>
        <p:txBody>
          <a:bodyPr/>
          <a:lstStyle/>
          <a:p>
            <a:fld id="{1B8B3671-A306-4A69-8480-FA9BE839245D}" type="slidenum">
              <a:rPr lang="en-US" smtClean="0"/>
              <a:t>‹#›</a:t>
            </a:fld>
            <a:endParaRPr lang="en-US"/>
          </a:p>
        </p:txBody>
      </p:sp>
      <p:sp>
        <p:nvSpPr>
          <p:cNvPr id="2" name="Title 1">
            <a:extLst>
              <a:ext uri="{FF2B5EF4-FFF2-40B4-BE49-F238E27FC236}">
                <a16:creationId xmlns:a16="http://schemas.microsoft.com/office/drawing/2014/main" id="{534851B1-0B20-9549-0D70-886AA9D04532}"/>
              </a:ext>
            </a:extLst>
          </p:cNvPr>
          <p:cNvSpPr>
            <a:spLocks noGrp="1"/>
          </p:cNvSpPr>
          <p:nvPr>
            <p:ph type="ctrTitle"/>
          </p:nvPr>
        </p:nvSpPr>
        <p:spPr>
          <a:xfrm>
            <a:off x="1295400" y="952500"/>
            <a:ext cx="8952781" cy="3748824"/>
          </a:xfrm>
          <a:noFill/>
        </p:spPr>
        <p:txBody>
          <a:bodyPr anchor="b">
            <a:normAutofit/>
          </a:bodyPr>
          <a:lstStyle>
            <a:lvl1pPr algn="l">
              <a:defRPr sz="3200" spc="530" baseline="0"/>
            </a:lvl1pPr>
          </a:lstStyle>
          <a:p>
            <a:r>
              <a:rPr lang="en-US"/>
              <a:t>Click to edit Master title style</a:t>
            </a:r>
          </a:p>
        </p:txBody>
      </p:sp>
    </p:spTree>
    <p:extLst>
      <p:ext uri="{BB962C8B-B14F-4D97-AF65-F5344CB8AC3E}">
        <p14:creationId xmlns:p14="http://schemas.microsoft.com/office/powerpoint/2010/main" val="3532662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367240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0CFA-45ED-71B0-EE3E-CCE6D5C19377}"/>
              </a:ext>
            </a:extLst>
          </p:cNvPr>
          <p:cNvSpPr>
            <a:spLocks noGrp="1"/>
          </p:cNvSpPr>
          <p:nvPr>
            <p:ph type="title"/>
          </p:nvPr>
        </p:nvSpPr>
        <p:spPr>
          <a:xfrm>
            <a:off x="1295400" y="1618211"/>
            <a:ext cx="8412190" cy="3944389"/>
          </a:xfrm>
        </p:spPr>
        <p:txBody>
          <a:bodyPr anchor="t">
            <a:normAutofit/>
          </a:bodyPr>
          <a:lstStyle>
            <a:lvl1pPr>
              <a:defRPr sz="3200"/>
            </a:lvl1pPr>
          </a:lstStyle>
          <a:p>
            <a:r>
              <a:rPr lang="en-US"/>
              <a:t>Click to edit Master title style</a:t>
            </a:r>
          </a:p>
        </p:txBody>
      </p:sp>
      <p:sp>
        <p:nvSpPr>
          <p:cNvPr id="3" name="Text Placeholder 2">
            <a:extLst>
              <a:ext uri="{FF2B5EF4-FFF2-40B4-BE49-F238E27FC236}">
                <a16:creationId xmlns:a16="http://schemas.microsoft.com/office/drawing/2014/main" id="{8F37BECA-A01D-7D7A-F2A6-891EC9D22945}"/>
              </a:ext>
            </a:extLst>
          </p:cNvPr>
          <p:cNvSpPr>
            <a:spLocks noGrp="1"/>
          </p:cNvSpPr>
          <p:nvPr>
            <p:ph type="body" idx="1"/>
          </p:nvPr>
        </p:nvSpPr>
        <p:spPr>
          <a:xfrm>
            <a:off x="1295400" y="908858"/>
            <a:ext cx="8412192" cy="676102"/>
          </a:xfrm>
        </p:spPr>
        <p:txBody>
          <a:bodyPr anchor="b">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716478-6FAF-D420-0B87-6EABB81E887C}"/>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5" name="Footer Placeholder 4">
            <a:extLst>
              <a:ext uri="{FF2B5EF4-FFF2-40B4-BE49-F238E27FC236}">
                <a16:creationId xmlns:a16="http://schemas.microsoft.com/office/drawing/2014/main" id="{87C4289B-CB0D-8AFC-7C02-F755C0DC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71E4-8A9E-2A30-D7FE-B3505124BB9D}"/>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775929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F941-C3A7-545F-8046-C7A9AC8030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BD4277-CFAE-EEF6-3346-61F06D5A3945}"/>
              </a:ext>
            </a:extLst>
          </p:cNvPr>
          <p:cNvSpPr>
            <a:spLocks noGrp="1"/>
          </p:cNvSpPr>
          <p:nvPr>
            <p:ph sz="half" idx="1"/>
          </p:nvPr>
        </p:nvSpPr>
        <p:spPr>
          <a:xfrm>
            <a:off x="1295401" y="2260121"/>
            <a:ext cx="4350026" cy="3656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543384-699D-84FC-C8B5-7BDE49BB4478}"/>
              </a:ext>
            </a:extLst>
          </p:cNvPr>
          <p:cNvSpPr>
            <a:spLocks noGrp="1"/>
          </p:cNvSpPr>
          <p:nvPr>
            <p:ph sz="half" idx="2"/>
          </p:nvPr>
        </p:nvSpPr>
        <p:spPr>
          <a:xfrm>
            <a:off x="6546574" y="2260120"/>
            <a:ext cx="4350025" cy="3656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A49386-AFC8-03DA-4563-07B0A0119B1C}"/>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6" name="Footer Placeholder 5">
            <a:extLst>
              <a:ext uri="{FF2B5EF4-FFF2-40B4-BE49-F238E27FC236}">
                <a16:creationId xmlns:a16="http://schemas.microsoft.com/office/drawing/2014/main" id="{23AED60A-7704-31D9-7D4D-65C635ED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927DA-3B5E-13B8-0BA8-5DCFF001E05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844888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B55A-280B-BDCB-F966-8578DDE741DC}"/>
              </a:ext>
            </a:extLst>
          </p:cNvPr>
          <p:cNvSpPr>
            <a:spLocks noGrp="1"/>
          </p:cNvSpPr>
          <p:nvPr>
            <p:ph type="title"/>
          </p:nvPr>
        </p:nvSpPr>
        <p:spPr>
          <a:xfrm>
            <a:off x="1295400" y="966788"/>
            <a:ext cx="10059988" cy="1051784"/>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76EA03-7008-14AB-547B-E66EA4EC968F}"/>
              </a:ext>
            </a:extLst>
          </p:cNvPr>
          <p:cNvSpPr>
            <a:spLocks noGrp="1"/>
          </p:cNvSpPr>
          <p:nvPr>
            <p:ph type="body" idx="1"/>
          </p:nvPr>
        </p:nvSpPr>
        <p:spPr>
          <a:xfrm>
            <a:off x="1295400" y="2018581"/>
            <a:ext cx="4350027"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629F56-D2C8-71FE-FA59-002819D51856}"/>
              </a:ext>
            </a:extLst>
          </p:cNvPr>
          <p:cNvSpPr>
            <a:spLocks noGrp="1"/>
          </p:cNvSpPr>
          <p:nvPr>
            <p:ph sz="half" idx="2"/>
          </p:nvPr>
        </p:nvSpPr>
        <p:spPr>
          <a:xfrm>
            <a:off x="1295400" y="2774756"/>
            <a:ext cx="4350027" cy="3150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524D2-CA8D-75F3-D089-C2F0E20D4759}"/>
              </a:ext>
            </a:extLst>
          </p:cNvPr>
          <p:cNvSpPr>
            <a:spLocks noGrp="1"/>
          </p:cNvSpPr>
          <p:nvPr>
            <p:ph type="body" sz="quarter" idx="3"/>
          </p:nvPr>
        </p:nvSpPr>
        <p:spPr>
          <a:xfrm>
            <a:off x="6546572" y="2018581"/>
            <a:ext cx="4350028"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99B0E3-5AE5-0516-27BF-9F246137FE03}"/>
              </a:ext>
            </a:extLst>
          </p:cNvPr>
          <p:cNvSpPr>
            <a:spLocks noGrp="1"/>
          </p:cNvSpPr>
          <p:nvPr>
            <p:ph sz="quarter" idx="4"/>
          </p:nvPr>
        </p:nvSpPr>
        <p:spPr>
          <a:xfrm>
            <a:off x="6546572" y="2774756"/>
            <a:ext cx="4350028" cy="3150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B319A7-6048-4735-B2AC-6D6043F1461A}"/>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8" name="Footer Placeholder 7">
            <a:extLst>
              <a:ext uri="{FF2B5EF4-FFF2-40B4-BE49-F238E27FC236}">
                <a16:creationId xmlns:a16="http://schemas.microsoft.com/office/drawing/2014/main" id="{6515F875-F23E-D0D2-9115-CD494FDA0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4F88F-F488-D9D5-CF99-AA1750AAFC39}"/>
              </a:ext>
            </a:extLst>
          </p:cNvPr>
          <p:cNvSpPr>
            <a:spLocks noGrp="1"/>
          </p:cNvSpPr>
          <p:nvPr>
            <p:ph type="sldNum" sz="quarter" idx="12"/>
          </p:nvPr>
        </p:nvSpPr>
        <p:spPr/>
        <p:txBody>
          <a:bodyPr/>
          <a:lstStyle/>
          <a:p>
            <a:fld id="{1B8B3671-A306-4A69-8480-FA9BE839245D}" type="slidenum">
              <a:rPr lang="en-US" smtClean="0"/>
              <a:t>‹#›</a:t>
            </a:fld>
            <a:endParaRPr lang="en-US"/>
          </a:p>
        </p:txBody>
      </p:sp>
      <p:cxnSp>
        <p:nvCxnSpPr>
          <p:cNvPr id="13" name="Straight Connector 12">
            <a:extLst>
              <a:ext uri="{FF2B5EF4-FFF2-40B4-BE49-F238E27FC236}">
                <a16:creationId xmlns:a16="http://schemas.microsoft.com/office/drawing/2014/main" id="{B5094593-EFC2-EEEF-74CD-BD00F4132A94}"/>
              </a:ext>
            </a:extLst>
          </p:cNvPr>
          <p:cNvCxnSpPr>
            <a:cxnSpLocks/>
          </p:cNvCxnSpPr>
          <p:nvPr/>
        </p:nvCxnSpPr>
        <p:spPr>
          <a:xfrm>
            <a:off x="6657975" y="2625552"/>
            <a:ext cx="423862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851F6D-436C-FA47-8CD1-2C10E735764A}"/>
              </a:ext>
            </a:extLst>
          </p:cNvPr>
          <p:cNvCxnSpPr>
            <a:cxnSpLocks/>
          </p:cNvCxnSpPr>
          <p:nvPr/>
        </p:nvCxnSpPr>
        <p:spPr>
          <a:xfrm>
            <a:off x="1403684" y="2625552"/>
            <a:ext cx="42417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797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B86-9261-4E82-EF65-30F78154E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A5E84-E43B-20AE-E80D-47CB0B07BD7B}"/>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4" name="Footer Placeholder 3">
            <a:extLst>
              <a:ext uri="{FF2B5EF4-FFF2-40B4-BE49-F238E27FC236}">
                <a16:creationId xmlns:a16="http://schemas.microsoft.com/office/drawing/2014/main" id="{2AFF5797-14F1-9FEB-247C-0E325AF74D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B5D7AF-1489-8F93-4828-0AE784B8BA8F}"/>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829295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CAF1C-8901-AE05-E52C-D5B95941055B}"/>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3" name="Footer Placeholder 2">
            <a:extLst>
              <a:ext uri="{FF2B5EF4-FFF2-40B4-BE49-F238E27FC236}">
                <a16:creationId xmlns:a16="http://schemas.microsoft.com/office/drawing/2014/main" id="{E1CD4F90-2973-4FE2-6C2C-5C2AC5C5A8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50414B-A7EC-0C14-EFD2-29C5582CC184}"/>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873317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78C7-A764-C5E4-A6A4-DC5B1B3537FB}"/>
              </a:ext>
            </a:extLst>
          </p:cNvPr>
          <p:cNvSpPr>
            <a:spLocks noGrp="1"/>
          </p:cNvSpPr>
          <p:nvPr>
            <p:ph type="title"/>
          </p:nvPr>
        </p:nvSpPr>
        <p:spPr>
          <a:xfrm>
            <a:off x="1306484" y="1306484"/>
            <a:ext cx="3932237" cy="2122516"/>
          </a:xfrm>
        </p:spPr>
        <p:txBody>
          <a:bodyPr anchor="t">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7DFE178-4B5D-413B-6583-AB81E8D04180}"/>
              </a:ext>
            </a:extLst>
          </p:cNvPr>
          <p:cNvSpPr>
            <a:spLocks noGrp="1"/>
          </p:cNvSpPr>
          <p:nvPr>
            <p:ph idx="1"/>
          </p:nvPr>
        </p:nvSpPr>
        <p:spPr>
          <a:xfrm>
            <a:off x="6096000" y="1312026"/>
            <a:ext cx="5143500" cy="456565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B92F6D-71AB-9630-9DBE-46041C50C79A}"/>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FEAAD1-C919-6E2E-32D2-E199025FB8F9}"/>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6" name="Footer Placeholder 5">
            <a:extLst>
              <a:ext uri="{FF2B5EF4-FFF2-40B4-BE49-F238E27FC236}">
                <a16:creationId xmlns:a16="http://schemas.microsoft.com/office/drawing/2014/main" id="{5288B5D8-E15B-BE38-2A89-BD0F02E1A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ECC26-B78C-4CBD-6883-97E80D3E516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177242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EAA-30F7-390A-C77C-2E5BD8218BC0}"/>
              </a:ext>
            </a:extLst>
          </p:cNvPr>
          <p:cNvSpPr>
            <a:spLocks noGrp="1"/>
          </p:cNvSpPr>
          <p:nvPr>
            <p:ph type="title"/>
          </p:nvPr>
        </p:nvSpPr>
        <p:spPr>
          <a:xfrm>
            <a:off x="1306484" y="1307185"/>
            <a:ext cx="3932237" cy="2121813"/>
          </a:xfrm>
        </p:spPr>
        <p:txBody>
          <a:bodyPr anchor="t">
            <a:normAutofit/>
          </a:bodyPr>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13A1C34-81AC-D534-67B1-42721228935F}"/>
              </a:ext>
            </a:extLst>
          </p:cNvPr>
          <p:cNvSpPr>
            <a:spLocks noGrp="1"/>
          </p:cNvSpPr>
          <p:nvPr>
            <p:ph type="pic" idx="1"/>
          </p:nvPr>
        </p:nvSpPr>
        <p:spPr>
          <a:xfrm>
            <a:off x="5857702" y="1307186"/>
            <a:ext cx="5038898" cy="459831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E1012D-3524-26C6-64C1-8CE6E7A9A29B}"/>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8FA6D7-1BE0-F14D-A2F7-4836180BC3B9}"/>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6" name="Footer Placeholder 5">
            <a:extLst>
              <a:ext uri="{FF2B5EF4-FFF2-40B4-BE49-F238E27FC236}">
                <a16:creationId xmlns:a16="http://schemas.microsoft.com/office/drawing/2014/main" id="{0556B5AC-3F20-FDC1-D579-7C4C6B4E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74ACA-1D54-81FA-70B1-31AB3011B3C6}"/>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529346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3AB-851A-0D2F-B3AE-5B161CFFC0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89FD6B-3621-3904-7878-A2825C6925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08AE9-D8ED-ED5D-D7B0-A43811777E81}"/>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5" name="Footer Placeholder 4">
            <a:extLst>
              <a:ext uri="{FF2B5EF4-FFF2-40B4-BE49-F238E27FC236}">
                <a16:creationId xmlns:a16="http://schemas.microsoft.com/office/drawing/2014/main" id="{9A9EF98B-AC81-D122-3D05-9C4E2FE4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FB543-B138-6627-3714-12105D172AD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694476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DE16D-F1A0-DDB5-A98C-A9055C93D914}"/>
              </a:ext>
            </a:extLst>
          </p:cNvPr>
          <p:cNvSpPr>
            <a:spLocks noGrp="1"/>
          </p:cNvSpPr>
          <p:nvPr>
            <p:ph type="title" orient="vert"/>
          </p:nvPr>
        </p:nvSpPr>
        <p:spPr>
          <a:xfrm>
            <a:off x="9188334" y="952499"/>
            <a:ext cx="2051165" cy="4953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8A548F-8DA7-C53C-1BFE-7C720CB20FA1}"/>
              </a:ext>
            </a:extLst>
          </p:cNvPr>
          <p:cNvSpPr>
            <a:spLocks noGrp="1"/>
          </p:cNvSpPr>
          <p:nvPr>
            <p:ph type="body" orient="vert" idx="1"/>
          </p:nvPr>
        </p:nvSpPr>
        <p:spPr>
          <a:xfrm>
            <a:off x="952500" y="952499"/>
            <a:ext cx="8235834" cy="4953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2EA2C8-1C90-25D0-8B0A-30B73CFD3EDE}"/>
              </a:ext>
            </a:extLst>
          </p:cNvPr>
          <p:cNvSpPr>
            <a:spLocks noGrp="1"/>
          </p:cNvSpPr>
          <p:nvPr>
            <p:ph type="dt" sz="half" idx="10"/>
          </p:nvPr>
        </p:nvSpPr>
        <p:spPr/>
        <p:txBody>
          <a:bodyPr/>
          <a:lstStyle/>
          <a:p>
            <a:fld id="{5DBDDF98-C922-483F-97E9-3E76B0201B42}" type="datetimeFigureOut">
              <a:rPr lang="en-US" smtClean="0"/>
              <a:t>5/27/2026</a:t>
            </a:fld>
            <a:endParaRPr lang="en-US"/>
          </a:p>
        </p:txBody>
      </p:sp>
      <p:sp>
        <p:nvSpPr>
          <p:cNvPr id="5" name="Footer Placeholder 4">
            <a:extLst>
              <a:ext uri="{FF2B5EF4-FFF2-40B4-BE49-F238E27FC236}">
                <a16:creationId xmlns:a16="http://schemas.microsoft.com/office/drawing/2014/main" id="{EA6FF1A4-0404-DA2D-1EA4-828091C0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57155-0F4A-F7B7-C4A8-755572E98C2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176209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92104-6F24-CD50-F55E-22A55084DDC9}"/>
              </a:ext>
            </a:extLst>
          </p:cNvPr>
          <p:cNvSpPr>
            <a:spLocks noGrp="1"/>
          </p:cNvSpPr>
          <p:nvPr>
            <p:ph type="title"/>
          </p:nvPr>
        </p:nvSpPr>
        <p:spPr>
          <a:xfrm>
            <a:off x="1295400" y="842963"/>
            <a:ext cx="9601200" cy="130968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1059CB-D00E-398D-E4D9-59792FC40A4C}"/>
              </a:ext>
            </a:extLst>
          </p:cNvPr>
          <p:cNvSpPr>
            <a:spLocks noGrp="1"/>
          </p:cNvSpPr>
          <p:nvPr>
            <p:ph type="body" idx="1"/>
          </p:nvPr>
        </p:nvSpPr>
        <p:spPr>
          <a:xfrm>
            <a:off x="1295400" y="2262188"/>
            <a:ext cx="9601200" cy="3643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DFBC38-D897-7CBE-AC89-A95A2222D7C8}"/>
              </a:ext>
            </a:extLst>
          </p:cNvPr>
          <p:cNvSpPr>
            <a:spLocks noGrp="1"/>
          </p:cNvSpPr>
          <p:nvPr>
            <p:ph type="dt" sz="half" idx="2"/>
          </p:nvPr>
        </p:nvSpPr>
        <p:spPr>
          <a:xfrm>
            <a:off x="847726" y="6199188"/>
            <a:ext cx="2743200" cy="365125"/>
          </a:xfrm>
          <a:prstGeom prst="rect">
            <a:avLst/>
          </a:prstGeom>
        </p:spPr>
        <p:txBody>
          <a:bodyPr vert="horz" lIns="91440" tIns="45720" rIns="91440" bIns="45720" rtlCol="0" anchor="ctr"/>
          <a:lstStyle>
            <a:lvl1pPr algn="l">
              <a:defRPr sz="1050">
                <a:solidFill>
                  <a:schemeClr val="tx1"/>
                </a:solidFill>
                <a:latin typeface="+mj-lt"/>
              </a:defRPr>
            </a:lvl1pPr>
          </a:lstStyle>
          <a:p>
            <a:fld id="{5DBDDF98-C922-483F-97E9-3E76B0201B42}" type="datetimeFigureOut">
              <a:rPr lang="en-US" smtClean="0"/>
              <a:pPr/>
              <a:t>5/27/2026</a:t>
            </a:fld>
            <a:endParaRPr lang="en-US"/>
          </a:p>
        </p:txBody>
      </p:sp>
      <p:sp>
        <p:nvSpPr>
          <p:cNvPr id="5" name="Footer Placeholder 4">
            <a:extLst>
              <a:ext uri="{FF2B5EF4-FFF2-40B4-BE49-F238E27FC236}">
                <a16:creationId xmlns:a16="http://schemas.microsoft.com/office/drawing/2014/main" id="{E6728008-2A03-D518-4A75-30816EB0D198}"/>
              </a:ext>
            </a:extLst>
          </p:cNvPr>
          <p:cNvSpPr>
            <a:spLocks noGrp="1"/>
          </p:cNvSpPr>
          <p:nvPr>
            <p:ph type="ftr" sz="quarter" idx="3"/>
          </p:nvPr>
        </p:nvSpPr>
        <p:spPr>
          <a:xfrm>
            <a:off x="7286625" y="6199188"/>
            <a:ext cx="3409951" cy="365125"/>
          </a:xfrm>
          <a:prstGeom prst="rect">
            <a:avLst/>
          </a:prstGeom>
        </p:spPr>
        <p:txBody>
          <a:bodyPr vert="horz" lIns="91440" tIns="45720" rIns="91440" bIns="45720" rtlCol="0" anchor="ctr"/>
          <a:lstStyle>
            <a:lvl1pPr algn="r">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F3691D49-2BD8-1C36-B43A-CF2F9177769B}"/>
              </a:ext>
            </a:extLst>
          </p:cNvPr>
          <p:cNvSpPr>
            <a:spLocks noGrp="1"/>
          </p:cNvSpPr>
          <p:nvPr>
            <p:ph type="sldNum" sz="quarter" idx="4"/>
          </p:nvPr>
        </p:nvSpPr>
        <p:spPr>
          <a:xfrm>
            <a:off x="10728107" y="6199188"/>
            <a:ext cx="619125" cy="365125"/>
          </a:xfrm>
          <a:prstGeom prst="rect">
            <a:avLst/>
          </a:prstGeom>
        </p:spPr>
        <p:txBody>
          <a:bodyPr vert="horz" lIns="91440" tIns="45720" rIns="91440" bIns="45720" rtlCol="0" anchor="ctr"/>
          <a:lstStyle>
            <a:lvl1pPr algn="r">
              <a:defRPr sz="1050">
                <a:solidFill>
                  <a:schemeClr val="tx1"/>
                </a:solidFill>
                <a:latin typeface="+mj-lt"/>
              </a:defRPr>
            </a:lvl1pPr>
          </a:lstStyle>
          <a:p>
            <a:fld id="{1B8B3671-A306-4A69-8480-FA9BE839245D}" type="slidenum">
              <a:rPr lang="en-US" smtClean="0"/>
              <a:pPr/>
              <a:t>‹#›</a:t>
            </a:fld>
            <a:endParaRPr lang="en-US"/>
          </a:p>
        </p:txBody>
      </p:sp>
    </p:spTree>
    <p:extLst>
      <p:ext uri="{BB962C8B-B14F-4D97-AF65-F5344CB8AC3E}">
        <p14:creationId xmlns:p14="http://schemas.microsoft.com/office/powerpoint/2010/main" val="346938895"/>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0" r:id="rId6"/>
    <p:sldLayoutId id="2147483736" r:id="rId7"/>
    <p:sldLayoutId id="2147483737" r:id="rId8"/>
    <p:sldLayoutId id="2147483738" r:id="rId9"/>
    <p:sldLayoutId id="2147483739" r:id="rId10"/>
    <p:sldLayoutId id="2147483741" r:id="rId11"/>
  </p:sldLayoutIdLst>
  <p:txStyles>
    <p:titleStyle>
      <a:lvl1pPr algn="l" defTabSz="914400" rtl="0" eaLnBrk="1" latinLnBrk="0" hangingPunct="1">
        <a:lnSpc>
          <a:spcPct val="120000"/>
        </a:lnSpc>
        <a:spcBef>
          <a:spcPct val="0"/>
        </a:spcBef>
        <a:buNone/>
        <a:defRPr sz="2800" kern="1200" cap="all" spc="5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23FB3B-24E7-5304-70D8-3CA40290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081EE3-B6BE-9584-F5AF-E5F6484DA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F21BDF6-8DC2-76A3-D68A-FE876D2F5875}"/>
              </a:ext>
            </a:extLst>
          </p:cNvPr>
          <p:cNvPicPr>
            <a:picLocks noChangeAspect="1"/>
          </p:cNvPicPr>
          <p:nvPr/>
        </p:nvPicPr>
        <p:blipFill>
          <a:blip r:embed="rId2">
            <a:alphaModFix amt="60000"/>
          </a:blip>
          <a:srcRect t="23450" r="-2" b="20299"/>
          <a:stretch>
            <a:fillRect/>
          </a:stretch>
        </p:blipFill>
        <p:spPr>
          <a:xfrm>
            <a:off x="10148" y="25601"/>
            <a:ext cx="12192001" cy="6858000"/>
          </a:xfrm>
          <a:prstGeom prst="rect">
            <a:avLst/>
          </a:prstGeom>
        </p:spPr>
      </p:pic>
      <p:sp>
        <p:nvSpPr>
          <p:cNvPr id="13" name="Freeform: Shape 12">
            <a:extLst>
              <a:ext uri="{FF2B5EF4-FFF2-40B4-BE49-F238E27FC236}">
                <a16:creationId xmlns:a16="http://schemas.microsoft.com/office/drawing/2014/main" id="{4711BF64-C99B-2F90-ADA1-0C08F9BE8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500" y="952500"/>
            <a:ext cx="10287000" cy="4953000"/>
          </a:xfrm>
          <a:custGeom>
            <a:avLst/>
            <a:gdLst>
              <a:gd name="connsiteX0" fmla="*/ 0 w 9985794"/>
              <a:gd name="connsiteY0" fmla="*/ 0 h 4920343"/>
              <a:gd name="connsiteX1" fmla="*/ 9985794 w 9985794"/>
              <a:gd name="connsiteY1" fmla="*/ 0 h 4920343"/>
              <a:gd name="connsiteX2" fmla="*/ 9985794 w 9985794"/>
              <a:gd name="connsiteY2" fmla="*/ 4920343 h 4920343"/>
              <a:gd name="connsiteX3" fmla="*/ 0 w 9985794"/>
              <a:gd name="connsiteY3" fmla="*/ 4920343 h 4920343"/>
              <a:gd name="connsiteX4" fmla="*/ 0 w 9985794"/>
              <a:gd name="connsiteY4" fmla="*/ 4119525 h 4920343"/>
              <a:gd name="connsiteX5" fmla="*/ 4905554 w 9985794"/>
              <a:gd name="connsiteY5" fmla="*/ 4119525 h 4920343"/>
              <a:gd name="connsiteX6" fmla="*/ 4905554 w 9985794"/>
              <a:gd name="connsiteY6" fmla="*/ 1451087 h 4920343"/>
              <a:gd name="connsiteX7" fmla="*/ 0 w 9985794"/>
              <a:gd name="connsiteY7" fmla="*/ 1451087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8" fmla="*/ 4996994 w 9985794"/>
              <a:gd name="connsiteY8" fmla="*/ 4210965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0" fmla="*/ 4905554 w 9985794"/>
              <a:gd name="connsiteY0" fmla="*/ 1451087 h 4920343"/>
              <a:gd name="connsiteX1" fmla="*/ 0 w 9985794"/>
              <a:gd name="connsiteY1" fmla="*/ 1451087 h 4920343"/>
              <a:gd name="connsiteX2" fmla="*/ 0 w 9985794"/>
              <a:gd name="connsiteY2" fmla="*/ 0 h 4920343"/>
              <a:gd name="connsiteX3" fmla="*/ 9985794 w 9985794"/>
              <a:gd name="connsiteY3" fmla="*/ 0 h 4920343"/>
              <a:gd name="connsiteX4" fmla="*/ 9985794 w 9985794"/>
              <a:gd name="connsiteY4" fmla="*/ 4920343 h 4920343"/>
              <a:gd name="connsiteX5" fmla="*/ 0 w 9985794"/>
              <a:gd name="connsiteY5" fmla="*/ 4920343 h 4920343"/>
              <a:gd name="connsiteX6" fmla="*/ 0 w 9985794"/>
              <a:gd name="connsiteY6" fmla="*/ 4119525 h 4920343"/>
              <a:gd name="connsiteX0" fmla="*/ 0 w 9985794"/>
              <a:gd name="connsiteY0" fmla="*/ 1451087 h 4920343"/>
              <a:gd name="connsiteX1" fmla="*/ 0 w 9985794"/>
              <a:gd name="connsiteY1" fmla="*/ 0 h 4920343"/>
              <a:gd name="connsiteX2" fmla="*/ 9985794 w 9985794"/>
              <a:gd name="connsiteY2" fmla="*/ 0 h 4920343"/>
              <a:gd name="connsiteX3" fmla="*/ 9985794 w 9985794"/>
              <a:gd name="connsiteY3" fmla="*/ 4920343 h 4920343"/>
              <a:gd name="connsiteX4" fmla="*/ 0 w 9985794"/>
              <a:gd name="connsiteY4" fmla="*/ 4920343 h 4920343"/>
              <a:gd name="connsiteX5" fmla="*/ 0 w 9985794"/>
              <a:gd name="connsiteY5" fmla="*/ 4119525 h 4920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5794" h="4920343">
                <a:moveTo>
                  <a:pt x="0" y="1451087"/>
                </a:moveTo>
                <a:lnTo>
                  <a:pt x="0" y="0"/>
                </a:lnTo>
                <a:lnTo>
                  <a:pt x="9985794" y="0"/>
                </a:lnTo>
                <a:lnTo>
                  <a:pt x="9985794" y="4920343"/>
                </a:lnTo>
                <a:lnTo>
                  <a:pt x="0" y="4920343"/>
                </a:lnTo>
                <a:lnTo>
                  <a:pt x="0" y="4119525"/>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776882" y="2398143"/>
            <a:ext cx="6118410" cy="2116348"/>
          </a:xfrm>
          <a:noFill/>
        </p:spPr>
        <p:txBody>
          <a:bodyPr anchor="b">
            <a:normAutofit/>
          </a:bodyPr>
          <a:lstStyle/>
          <a:p>
            <a:r>
              <a:rPr lang="en-US">
                <a:solidFill>
                  <a:schemeClr val="bg1"/>
                </a:solidFill>
              </a:rPr>
              <a:t>Plant disease detector</a:t>
            </a:r>
          </a:p>
        </p:txBody>
      </p:sp>
      <p:sp>
        <p:nvSpPr>
          <p:cNvPr id="3" name="Subtitle 2"/>
          <p:cNvSpPr>
            <a:spLocks noGrp="1"/>
          </p:cNvSpPr>
          <p:nvPr>
            <p:ph type="subTitle" idx="1"/>
          </p:nvPr>
        </p:nvSpPr>
        <p:spPr>
          <a:xfrm>
            <a:off x="776882" y="4514492"/>
            <a:ext cx="4709518" cy="753372"/>
          </a:xfrm>
          <a:noFill/>
        </p:spPr>
        <p:txBody>
          <a:bodyPr vert="horz" lIns="91440" tIns="45720" rIns="91440" bIns="45720" rtlCol="0" anchor="t">
            <a:noAutofit/>
          </a:bodyPr>
          <a:lstStyle/>
          <a:p>
            <a:r>
              <a:rPr lang="en-US" sz="1600">
                <a:solidFill>
                  <a:srgbClr val="FFFFFF"/>
                </a:solidFill>
              </a:rPr>
              <a:t>Evan Bradshaw, Wyatt Bridges, Isabel Ehrlich, </a:t>
            </a:r>
            <a:r>
              <a:rPr lang="en-US" sz="1600" err="1">
                <a:solidFill>
                  <a:srgbClr val="FFFFFF"/>
                </a:solidFill>
                <a:ea typeface="+mn-lt"/>
                <a:cs typeface="+mn-lt"/>
              </a:rPr>
              <a:t>Jeshlymar</a:t>
            </a:r>
            <a:r>
              <a:rPr lang="en-US" sz="1600">
                <a:solidFill>
                  <a:srgbClr val="FFFFFF"/>
                </a:solidFill>
                <a:ea typeface="+mn-lt"/>
                <a:cs typeface="+mn-lt"/>
              </a:rPr>
              <a:t> Vicente Maldonado, Yosel Rivera</a:t>
            </a:r>
            <a:endParaRPr lang="en-US" sz="1600">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0191-FBA3-F57E-9A16-D7FA1B15D78B}"/>
              </a:ext>
            </a:extLst>
          </p:cNvPr>
          <p:cNvSpPr>
            <a:spLocks noGrp="1"/>
          </p:cNvSpPr>
          <p:nvPr>
            <p:ph type="title"/>
          </p:nvPr>
        </p:nvSpPr>
        <p:spPr>
          <a:ln>
            <a:solidFill>
              <a:schemeClr val="tx1"/>
            </a:solidFill>
          </a:ln>
        </p:spPr>
        <p:txBody>
          <a:bodyPr/>
          <a:lstStyle/>
          <a:p>
            <a:r>
              <a:rPr lang="en-US"/>
              <a:t>Problem Recap</a:t>
            </a:r>
          </a:p>
        </p:txBody>
      </p:sp>
      <p:sp>
        <p:nvSpPr>
          <p:cNvPr id="3" name="Content Placeholder 2">
            <a:extLst>
              <a:ext uri="{FF2B5EF4-FFF2-40B4-BE49-F238E27FC236}">
                <a16:creationId xmlns:a16="http://schemas.microsoft.com/office/drawing/2014/main" id="{2F37EFD4-107B-1EDA-9A91-23D0095ED973}"/>
              </a:ext>
            </a:extLst>
          </p:cNvPr>
          <p:cNvSpPr>
            <a:spLocks noGrp="1"/>
          </p:cNvSpPr>
          <p:nvPr>
            <p:ph idx="1"/>
          </p:nvPr>
        </p:nvSpPr>
        <p:spPr>
          <a:ln>
            <a:solidFill>
              <a:schemeClr val="tx1"/>
            </a:solidFill>
          </a:ln>
        </p:spPr>
        <p:txBody>
          <a:bodyPr vert="horz" lIns="91440" tIns="45720" rIns="91440" bIns="45720" rtlCol="0" anchor="t">
            <a:normAutofit/>
          </a:bodyPr>
          <a:lstStyle/>
          <a:p>
            <a:r>
              <a:rPr lang="en-US">
                <a:latin typeface="Times New Roman"/>
                <a:cs typeface="Times New Roman"/>
              </a:rPr>
              <a:t>Problem: Diseases in crops and trees often go undetected or misdiagnosed which leads to widespread damage and economic loss. Early detection is crucial for protecting food supply and agricultural stability.</a:t>
            </a:r>
          </a:p>
          <a:p>
            <a:r>
              <a:rPr lang="en-US">
                <a:latin typeface="Times New Roman"/>
                <a:cs typeface="Times New Roman"/>
              </a:rPr>
              <a:t>Approach: We developed a machine learning classification model which does the following</a:t>
            </a:r>
          </a:p>
          <a:p>
            <a:pPr marL="474980" lvl="1">
              <a:buFont typeface="Courier New" panose="020B0604020202020204" pitchFamily="34" charset="0"/>
              <a:buChar char="o"/>
            </a:pPr>
            <a:r>
              <a:rPr lang="en-US" sz="1800">
                <a:latin typeface="Times New Roman"/>
                <a:cs typeface="Times New Roman"/>
              </a:rPr>
              <a:t>Identifies trees species.</a:t>
            </a:r>
            <a:endParaRPr lang="en-US" sz="1800">
              <a:latin typeface="Univers Light"/>
              <a:cs typeface="Times New Roman"/>
            </a:endParaRPr>
          </a:p>
          <a:p>
            <a:pPr marL="474980" lvl="1">
              <a:buFont typeface="Courier New" panose="020B0604020202020204" pitchFamily="34" charset="0"/>
              <a:buChar char="o"/>
            </a:pPr>
            <a:r>
              <a:rPr lang="en-US" sz="1800">
                <a:latin typeface="Times New Roman"/>
                <a:cs typeface="Times New Roman"/>
              </a:rPr>
              <a:t>detects whether a tree is diseased</a:t>
            </a:r>
            <a:endParaRPr lang="en-US" sz="1800">
              <a:latin typeface="Univers Light"/>
              <a:cs typeface="Times New Roman"/>
            </a:endParaRPr>
          </a:p>
          <a:p>
            <a:pPr marL="474980" lvl="1">
              <a:buFont typeface="Courier New" panose="020B0604020202020204" pitchFamily="34" charset="0"/>
              <a:buChar char="o"/>
            </a:pPr>
            <a:r>
              <a:rPr lang="en-US" sz="1800">
                <a:latin typeface="Times New Roman"/>
                <a:cs typeface="Times New Roman"/>
              </a:rPr>
              <a:t>determines the specific disease if detected.</a:t>
            </a:r>
            <a:endParaRPr lang="en-US" sz="1800"/>
          </a:p>
          <a:p>
            <a:r>
              <a:rPr lang="en-US">
                <a:latin typeface="Times New Roman"/>
                <a:cs typeface="Times New Roman"/>
              </a:rPr>
              <a:t>We began by focusing on a single tree species until an acceptable accuracy is achieved, in the future </a:t>
            </a:r>
            <a:r>
              <a:rPr lang="en-US" err="1">
                <a:latin typeface="Times New Roman"/>
                <a:cs typeface="Times New Roman"/>
              </a:rPr>
              <a:t>th</a:t>
            </a:r>
            <a:r>
              <a:rPr lang="en-US">
                <a:latin typeface="Times New Roman"/>
                <a:cs typeface="Times New Roman"/>
              </a:rPr>
              <a:t>e program could be expanded upon by adding other trees.</a:t>
            </a:r>
          </a:p>
          <a:p>
            <a:endParaRPr lang="en-US">
              <a:latin typeface="Times New Roman"/>
              <a:cs typeface="Times New Roman"/>
            </a:endParaRPr>
          </a:p>
        </p:txBody>
      </p:sp>
    </p:spTree>
    <p:extLst>
      <p:ext uri="{BB962C8B-B14F-4D97-AF65-F5344CB8AC3E}">
        <p14:creationId xmlns:p14="http://schemas.microsoft.com/office/powerpoint/2010/main" val="732069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0167B-8361-0AF1-6A70-4503FA5DA25D}"/>
              </a:ext>
            </a:extLst>
          </p:cNvPr>
          <p:cNvSpPr>
            <a:spLocks noGrp="1"/>
          </p:cNvSpPr>
          <p:nvPr>
            <p:ph type="title"/>
          </p:nvPr>
        </p:nvSpPr>
        <p:spPr>
          <a:ln>
            <a:solidFill>
              <a:schemeClr val="tx1"/>
            </a:solidFill>
          </a:ln>
        </p:spPr>
        <p:txBody>
          <a:bodyPr/>
          <a:lstStyle/>
          <a:p>
            <a:r>
              <a:rPr lang="en-US"/>
              <a:t>Data description</a:t>
            </a:r>
          </a:p>
        </p:txBody>
      </p:sp>
      <p:sp>
        <p:nvSpPr>
          <p:cNvPr id="3" name="Content Placeholder 2">
            <a:extLst>
              <a:ext uri="{FF2B5EF4-FFF2-40B4-BE49-F238E27FC236}">
                <a16:creationId xmlns:a16="http://schemas.microsoft.com/office/drawing/2014/main" id="{AF194904-1F2E-CC6C-43FF-65C0F87859DF}"/>
              </a:ext>
            </a:extLst>
          </p:cNvPr>
          <p:cNvSpPr>
            <a:spLocks noGrp="1"/>
          </p:cNvSpPr>
          <p:nvPr>
            <p:ph idx="1"/>
          </p:nvPr>
        </p:nvSpPr>
        <p:spPr>
          <a:xfrm>
            <a:off x="1295400" y="2262188"/>
            <a:ext cx="9601200" cy="4483753"/>
          </a:xfrm>
          <a:ln>
            <a:solidFill>
              <a:schemeClr val="tx1"/>
            </a:solidFill>
          </a:ln>
        </p:spPr>
        <p:txBody>
          <a:bodyPr vert="horz" lIns="91440" tIns="45720" rIns="91440" bIns="45720" rtlCol="0" anchor="t">
            <a:normAutofit/>
          </a:bodyPr>
          <a:lstStyle/>
          <a:p>
            <a:r>
              <a:rPr lang="en-US">
                <a:latin typeface="Times New Roman"/>
                <a:cs typeface="Times New Roman"/>
              </a:rPr>
              <a:t>Data source(s): The dataset used is the coconut Tree Disease Dataset, obtained from Kaggle. The datasets consists of labeled images organized into five disease categories. Bud Root Dropping, Bud Rot, Gray Leaf Spot, Lead Rot, Stem Bleeding.</a:t>
            </a:r>
          </a:p>
          <a:p>
            <a:r>
              <a:rPr lang="en-US">
                <a:latin typeface="Times New Roman"/>
                <a:cs typeface="Times New Roman"/>
              </a:rPr>
              <a:t>Key features (variables): There are Four Key features</a:t>
            </a:r>
          </a:p>
          <a:p>
            <a:pPr marL="474980" lvl="1">
              <a:buFont typeface="Courier New" panose="020B0604020202020204" pitchFamily="34" charset="0"/>
              <a:buChar char="o"/>
            </a:pPr>
            <a:r>
              <a:rPr lang="en-US">
                <a:latin typeface="Times New Roman"/>
                <a:cs typeface="Times New Roman"/>
              </a:rPr>
              <a:t>Color Variations (green, yellow, brown, gray and signs of discoloration)</a:t>
            </a:r>
          </a:p>
          <a:p>
            <a:pPr marL="474980" lvl="1">
              <a:buFont typeface="Courier New" panose="020B0604020202020204" pitchFamily="34" charset="0"/>
              <a:buChar char="o"/>
            </a:pPr>
            <a:r>
              <a:rPr lang="en-US">
                <a:latin typeface="Times New Roman"/>
                <a:cs typeface="Times New Roman"/>
              </a:rPr>
              <a:t>Texture Difference (spots)</a:t>
            </a:r>
          </a:p>
          <a:p>
            <a:pPr marL="474980" lvl="1">
              <a:buFont typeface="Courier New" panose="020B0604020202020204" pitchFamily="34" charset="0"/>
              <a:buChar char="o"/>
            </a:pPr>
            <a:r>
              <a:rPr lang="en-US">
                <a:latin typeface="Times New Roman"/>
                <a:cs typeface="Times New Roman"/>
              </a:rPr>
              <a:t>Shape/structure changes (drooping and deformation)</a:t>
            </a:r>
          </a:p>
          <a:p>
            <a:pPr marL="474980" lvl="1">
              <a:buFont typeface="Courier New" panose="020B0604020202020204" pitchFamily="34" charset="0"/>
              <a:buChar char="o"/>
            </a:pPr>
            <a:r>
              <a:rPr lang="en-US">
                <a:latin typeface="Times New Roman"/>
                <a:cs typeface="Times New Roman"/>
              </a:rPr>
              <a:t>Pattern recognition (leaf spots, stem streaks)</a:t>
            </a:r>
          </a:p>
          <a:p>
            <a:r>
              <a:rPr lang="en-US">
                <a:latin typeface="Times New Roman"/>
                <a:cs typeface="Times New Roman"/>
              </a:rPr>
              <a:t>Data size and structure: The dataset consists five diseases classes, with hundreds of images per class, which is organized into labeled folders. The data is split between 80% training and 20% testing.</a:t>
            </a:r>
          </a:p>
          <a:p>
            <a:endParaRPr lang="en-US">
              <a:latin typeface="Univers Light"/>
              <a:cs typeface="Times New Roman"/>
            </a:endParaRPr>
          </a:p>
        </p:txBody>
      </p:sp>
    </p:spTree>
    <p:extLst>
      <p:ext uri="{BB962C8B-B14F-4D97-AF65-F5344CB8AC3E}">
        <p14:creationId xmlns:p14="http://schemas.microsoft.com/office/powerpoint/2010/main" val="3637835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E2FA0-126E-5475-1817-631D1FD1A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40482-DFEE-49D5-7794-9B17C2229604}"/>
              </a:ext>
            </a:extLst>
          </p:cNvPr>
          <p:cNvSpPr>
            <a:spLocks noGrp="1"/>
          </p:cNvSpPr>
          <p:nvPr>
            <p:ph type="title"/>
          </p:nvPr>
        </p:nvSpPr>
        <p:spPr>
          <a:ln>
            <a:solidFill>
              <a:schemeClr val="tx1"/>
            </a:solidFill>
          </a:ln>
        </p:spPr>
        <p:txBody>
          <a:bodyPr/>
          <a:lstStyle/>
          <a:p>
            <a:r>
              <a:rPr lang="en-US"/>
              <a:t>Data description</a:t>
            </a:r>
          </a:p>
        </p:txBody>
      </p:sp>
      <p:sp>
        <p:nvSpPr>
          <p:cNvPr id="3" name="Content Placeholder 2">
            <a:extLst>
              <a:ext uri="{FF2B5EF4-FFF2-40B4-BE49-F238E27FC236}">
                <a16:creationId xmlns:a16="http://schemas.microsoft.com/office/drawing/2014/main" id="{465C9D37-1765-E968-DA9F-277B8820D67A}"/>
              </a:ext>
            </a:extLst>
          </p:cNvPr>
          <p:cNvSpPr>
            <a:spLocks noGrp="1"/>
          </p:cNvSpPr>
          <p:nvPr>
            <p:ph idx="1"/>
          </p:nvPr>
        </p:nvSpPr>
        <p:spPr>
          <a:xfrm>
            <a:off x="1295400" y="2262188"/>
            <a:ext cx="9601200" cy="4483753"/>
          </a:xfrm>
          <a:ln>
            <a:solidFill>
              <a:schemeClr val="tx1"/>
            </a:solidFill>
          </a:ln>
        </p:spPr>
        <p:txBody>
          <a:bodyPr vert="horz" lIns="91440" tIns="45720" rIns="91440" bIns="45720" rtlCol="0" anchor="t">
            <a:normAutofit/>
          </a:bodyPr>
          <a:lstStyle/>
          <a:p>
            <a:pPr marL="285750" indent="-285750"/>
            <a:r>
              <a:rPr lang="en-US" sz="2400">
                <a:latin typeface="Times New Roman"/>
                <a:cs typeface="Times New Roman"/>
              </a:rPr>
              <a:t>Preprocessing performed:</a:t>
            </a:r>
          </a:p>
          <a:p>
            <a:pPr marL="532130" lvl="1" indent="-285750">
              <a:buFont typeface="Courier New" panose="020B0604020202020204" pitchFamily="34" charset="0"/>
              <a:buChar char="o"/>
            </a:pPr>
            <a:r>
              <a:rPr lang="en-US" sz="2000">
                <a:latin typeface="Times New Roman"/>
                <a:cs typeface="Times New Roman"/>
              </a:rPr>
              <a:t>Resized image to 224 x 224</a:t>
            </a:r>
          </a:p>
          <a:p>
            <a:pPr marL="532130" lvl="1" indent="-285750">
              <a:buFont typeface="Courier New" panose="020B0604020202020204" pitchFamily="34" charset="0"/>
              <a:buChar char="o"/>
            </a:pPr>
            <a:r>
              <a:rPr lang="en-US" sz="2000">
                <a:latin typeface="Times New Roman"/>
                <a:cs typeface="Times New Roman"/>
              </a:rPr>
              <a:t>Random Horizontal Flip</a:t>
            </a:r>
          </a:p>
          <a:p>
            <a:pPr marL="532130" lvl="1" indent="-285750">
              <a:buFont typeface="Courier New" panose="020B0604020202020204" pitchFamily="34" charset="0"/>
              <a:buChar char="o"/>
            </a:pPr>
            <a:r>
              <a:rPr lang="en-US" sz="2000">
                <a:latin typeface="Times New Roman"/>
                <a:cs typeface="Times New Roman"/>
              </a:rPr>
              <a:t>Random Rotation</a:t>
            </a:r>
          </a:p>
          <a:p>
            <a:pPr marL="532130" lvl="1" indent="-285750">
              <a:buFont typeface="Courier New" panose="020B0604020202020204" pitchFamily="34" charset="0"/>
              <a:buChar char="o"/>
            </a:pPr>
            <a:r>
              <a:rPr lang="en-US" sz="2000">
                <a:latin typeface="Times New Roman"/>
                <a:cs typeface="Times New Roman"/>
              </a:rPr>
              <a:t>Converting images to tensors</a:t>
            </a:r>
          </a:p>
          <a:p>
            <a:pPr marL="532130" lvl="1" indent="-285750">
              <a:buFont typeface="Courier New" panose="020B0604020202020204" pitchFamily="34" charset="0"/>
              <a:buChar char="o"/>
            </a:pPr>
            <a:r>
              <a:rPr lang="en-US" sz="2000">
                <a:latin typeface="Times New Roman"/>
                <a:cs typeface="Times New Roman"/>
              </a:rPr>
              <a:t>Normalized pixel values</a:t>
            </a:r>
          </a:p>
          <a:p>
            <a:pPr marL="532130" lvl="1" indent="-285750">
              <a:buFont typeface="Courier New" panose="020B0604020202020204" pitchFamily="34" charset="0"/>
              <a:buChar char="o"/>
            </a:pPr>
            <a:r>
              <a:rPr lang="en-US" sz="2000">
                <a:latin typeface="Times New Roman"/>
                <a:cs typeface="Times New Roman"/>
              </a:rPr>
              <a:t>Split data into validation and training sets</a:t>
            </a:r>
          </a:p>
          <a:p>
            <a:endParaRPr lang="en-US"/>
          </a:p>
        </p:txBody>
      </p:sp>
    </p:spTree>
    <p:extLst>
      <p:ext uri="{BB962C8B-B14F-4D97-AF65-F5344CB8AC3E}">
        <p14:creationId xmlns:p14="http://schemas.microsoft.com/office/powerpoint/2010/main" val="1123756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72F36-57CB-918F-3747-9D3F99E23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9800E-4884-780E-6007-A8A57E252D88}"/>
              </a:ext>
            </a:extLst>
          </p:cNvPr>
          <p:cNvSpPr>
            <a:spLocks noGrp="1"/>
          </p:cNvSpPr>
          <p:nvPr>
            <p:ph type="title"/>
          </p:nvPr>
        </p:nvSpPr>
        <p:spPr>
          <a:ln>
            <a:solidFill>
              <a:schemeClr val="tx1"/>
            </a:solidFill>
          </a:ln>
        </p:spPr>
        <p:txBody>
          <a:bodyPr/>
          <a:lstStyle/>
          <a:p>
            <a:r>
              <a:rPr lang="en-US">
                <a:latin typeface="Goudy Old Style"/>
                <a:cs typeface="Times New Roman"/>
              </a:rPr>
              <a:t>Methodology Continued</a:t>
            </a:r>
            <a:endParaRPr lang="en-US"/>
          </a:p>
        </p:txBody>
      </p:sp>
      <p:sp>
        <p:nvSpPr>
          <p:cNvPr id="3" name="Content Placeholder 2">
            <a:extLst>
              <a:ext uri="{FF2B5EF4-FFF2-40B4-BE49-F238E27FC236}">
                <a16:creationId xmlns:a16="http://schemas.microsoft.com/office/drawing/2014/main" id="{35F1E18C-701A-F501-7CA4-4E731256546E}"/>
              </a:ext>
            </a:extLst>
          </p:cNvPr>
          <p:cNvSpPr>
            <a:spLocks noGrp="1"/>
          </p:cNvSpPr>
          <p:nvPr>
            <p:ph idx="1"/>
          </p:nvPr>
        </p:nvSpPr>
        <p:spPr>
          <a:ln>
            <a:solidFill>
              <a:schemeClr val="tx1"/>
            </a:solidFill>
          </a:ln>
        </p:spPr>
        <p:txBody>
          <a:bodyPr vert="horz" lIns="91440" tIns="45720" rIns="91440" bIns="45720" rtlCol="0" anchor="t">
            <a:normAutofit/>
          </a:bodyPr>
          <a:lstStyle/>
          <a:p>
            <a:pPr>
              <a:buFont typeface="Arial"/>
            </a:pPr>
            <a:r>
              <a:rPr lang="en-US">
                <a:latin typeface="Times New Roman"/>
                <a:cs typeface="Times New Roman"/>
              </a:rPr>
              <a:t>Type of model used (classification, regression, clustering): The model used in this project is a classification model.</a:t>
            </a:r>
            <a:endParaRPr lang="en-US"/>
          </a:p>
          <a:p>
            <a:pPr>
              <a:buFont typeface="Arial"/>
            </a:pPr>
            <a:r>
              <a:rPr lang="en-US">
                <a:latin typeface="Times New Roman"/>
                <a:cs typeface="Times New Roman"/>
              </a:rPr>
              <a:t>Algorithms applied: Several algorithms were applied</a:t>
            </a:r>
          </a:p>
          <a:p>
            <a:pPr marL="474980" lvl="1" indent="-285750">
              <a:buFont typeface="Courier New"/>
              <a:buChar char="o"/>
            </a:pPr>
            <a:r>
              <a:rPr lang="en-US">
                <a:latin typeface="Times New Roman"/>
                <a:cs typeface="Times New Roman"/>
              </a:rPr>
              <a:t>ResNet-18 (CNN): used for image classification</a:t>
            </a:r>
          </a:p>
          <a:p>
            <a:pPr marL="474980" lvl="1" indent="-285750">
              <a:buFont typeface="Courier New"/>
              <a:buChar char="o"/>
            </a:pPr>
            <a:r>
              <a:rPr lang="en-US">
                <a:latin typeface="Times New Roman"/>
                <a:cs typeface="Times New Roman"/>
              </a:rPr>
              <a:t>Adam Optimizer: updated model weights during training</a:t>
            </a:r>
          </a:p>
          <a:p>
            <a:pPr marL="474980" lvl="1" indent="-285750">
              <a:buFont typeface="Courier New"/>
              <a:buChar char="o"/>
            </a:pPr>
            <a:r>
              <a:rPr lang="en-US">
                <a:latin typeface="Times New Roman"/>
                <a:cs typeface="Times New Roman"/>
              </a:rPr>
              <a:t>Cross-Entropy Loss: measures prediction error for multi-class classification</a:t>
            </a:r>
          </a:p>
          <a:p>
            <a:pPr marL="474980" lvl="1" indent="-285750">
              <a:buFont typeface="Courier New"/>
              <a:buChar char="o"/>
            </a:pPr>
            <a:r>
              <a:rPr lang="en-US">
                <a:latin typeface="Times New Roman"/>
                <a:cs typeface="Times New Roman"/>
              </a:rPr>
              <a:t>Data Preprocessing and Augmentation: resizing, normalization, flipping, and rotation</a:t>
            </a:r>
          </a:p>
          <a:p>
            <a:pPr marL="474980" lvl="1" indent="-285750">
              <a:buFont typeface="Courier New"/>
              <a:buChar char="o"/>
            </a:pPr>
            <a:r>
              <a:rPr lang="en-US">
                <a:latin typeface="Times New Roman"/>
                <a:cs typeface="Times New Roman"/>
              </a:rPr>
              <a:t>Train Validation split: separate the data for training and validation</a:t>
            </a:r>
          </a:p>
          <a:p>
            <a:pPr marL="474980" lvl="1" indent="-285750">
              <a:buFont typeface="Courier New"/>
              <a:buChar char="o"/>
            </a:pPr>
            <a:r>
              <a:rPr lang="en-US">
                <a:latin typeface="Times New Roman"/>
                <a:cs typeface="Times New Roman"/>
              </a:rPr>
              <a:t>Backpropagation: computes gradients and improves model performance</a:t>
            </a:r>
          </a:p>
          <a:p>
            <a:pPr>
              <a:buFont typeface="Arial"/>
            </a:pPr>
            <a:endParaRPr lang="en-US">
              <a:latin typeface="Times New Roman"/>
              <a:cs typeface="Times New Roman"/>
            </a:endParaRPr>
          </a:p>
        </p:txBody>
      </p:sp>
    </p:spTree>
    <p:extLst>
      <p:ext uri="{BB962C8B-B14F-4D97-AF65-F5344CB8AC3E}">
        <p14:creationId xmlns:p14="http://schemas.microsoft.com/office/powerpoint/2010/main" val="2368345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628EA-CF5E-0869-F0C8-0D750FADB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E4E1E-9878-0F4B-C635-5D0E662E53D2}"/>
              </a:ext>
            </a:extLst>
          </p:cNvPr>
          <p:cNvSpPr>
            <a:spLocks noGrp="1"/>
          </p:cNvSpPr>
          <p:nvPr>
            <p:ph type="title"/>
          </p:nvPr>
        </p:nvSpPr>
        <p:spPr>
          <a:ln>
            <a:solidFill>
              <a:schemeClr val="tx1"/>
            </a:solidFill>
          </a:ln>
        </p:spPr>
        <p:txBody>
          <a:bodyPr/>
          <a:lstStyle/>
          <a:p>
            <a:r>
              <a:rPr lang="en-US">
                <a:latin typeface="Goudy Old Style"/>
                <a:cs typeface="Times New Roman"/>
              </a:rPr>
              <a:t>Methodology</a:t>
            </a:r>
            <a:endParaRPr lang="en-US"/>
          </a:p>
        </p:txBody>
      </p:sp>
      <p:sp>
        <p:nvSpPr>
          <p:cNvPr id="3" name="Content Placeholder 2">
            <a:extLst>
              <a:ext uri="{FF2B5EF4-FFF2-40B4-BE49-F238E27FC236}">
                <a16:creationId xmlns:a16="http://schemas.microsoft.com/office/drawing/2014/main" id="{8FA3CD07-8156-F78D-6B18-54F38B6BE1EB}"/>
              </a:ext>
            </a:extLst>
          </p:cNvPr>
          <p:cNvSpPr>
            <a:spLocks noGrp="1"/>
          </p:cNvSpPr>
          <p:nvPr>
            <p:ph idx="1"/>
          </p:nvPr>
        </p:nvSpPr>
        <p:spPr>
          <a:ln>
            <a:solidFill>
              <a:schemeClr val="tx1"/>
            </a:solidFill>
          </a:ln>
        </p:spPr>
        <p:txBody>
          <a:bodyPr vert="horz" lIns="91440" tIns="45720" rIns="91440" bIns="45720" rtlCol="0" anchor="t">
            <a:normAutofit/>
          </a:bodyPr>
          <a:lstStyle/>
          <a:p>
            <a:r>
              <a:rPr lang="en-US" sz="2400">
                <a:latin typeface="Times New Roman"/>
                <a:cs typeface="Times New Roman"/>
              </a:rPr>
              <a:t> We chose this approach because CNNs are designed to work with images and can extract important visual features. ResNet-18 was chosen because it provides good performance while being efficient, it is not too large which allows it to be trained without taking too long. Preprocessing was used to help prevent overfitting and increase accuracy.</a:t>
            </a:r>
          </a:p>
          <a:p>
            <a:endParaRPr lang="en-US">
              <a:latin typeface="Times New Roman"/>
              <a:cs typeface="Times New Roman"/>
            </a:endParaRPr>
          </a:p>
        </p:txBody>
      </p:sp>
    </p:spTree>
    <p:extLst>
      <p:ext uri="{BB962C8B-B14F-4D97-AF65-F5344CB8AC3E}">
        <p14:creationId xmlns:p14="http://schemas.microsoft.com/office/powerpoint/2010/main" val="2297401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4AF6A-ECED-9636-BEB7-B9CF87D1A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1659F-08C0-E32A-6B3A-E4481F793AFD}"/>
              </a:ext>
            </a:extLst>
          </p:cNvPr>
          <p:cNvSpPr>
            <a:spLocks noGrp="1"/>
          </p:cNvSpPr>
          <p:nvPr>
            <p:ph type="title"/>
          </p:nvPr>
        </p:nvSpPr>
        <p:spPr>
          <a:ln>
            <a:solidFill>
              <a:schemeClr val="tx1"/>
            </a:solidFill>
          </a:ln>
        </p:spPr>
        <p:txBody>
          <a:bodyPr/>
          <a:lstStyle/>
          <a:p>
            <a:r>
              <a:rPr lang="en-US"/>
              <a:t>Implementation</a:t>
            </a:r>
          </a:p>
        </p:txBody>
      </p:sp>
      <p:sp>
        <p:nvSpPr>
          <p:cNvPr id="3" name="Content Placeholder 2">
            <a:extLst>
              <a:ext uri="{FF2B5EF4-FFF2-40B4-BE49-F238E27FC236}">
                <a16:creationId xmlns:a16="http://schemas.microsoft.com/office/drawing/2014/main" id="{4DCFBEDF-8828-8C8B-89F3-AA15E5497B92}"/>
              </a:ext>
            </a:extLst>
          </p:cNvPr>
          <p:cNvSpPr>
            <a:spLocks noGrp="1"/>
          </p:cNvSpPr>
          <p:nvPr>
            <p:ph idx="1"/>
          </p:nvPr>
        </p:nvSpPr>
        <p:spPr>
          <a:xfrm>
            <a:off x="1295400" y="2262188"/>
            <a:ext cx="9601200" cy="4416517"/>
          </a:xfrm>
          <a:ln>
            <a:solidFill>
              <a:schemeClr val="tx1"/>
            </a:solidFill>
          </a:ln>
        </p:spPr>
        <p:txBody>
          <a:bodyPr vert="horz" lIns="91440" tIns="45720" rIns="91440" bIns="45720" rtlCol="0" anchor="t">
            <a:normAutofit/>
          </a:bodyPr>
          <a:lstStyle/>
          <a:p>
            <a:pPr marL="0" indent="0">
              <a:buNone/>
            </a:pPr>
            <a:r>
              <a:rPr lang="en-US">
                <a:latin typeface="Times New Roman"/>
                <a:cs typeface="Times New Roman"/>
              </a:rPr>
              <a:t>Tools/libraries used:</a:t>
            </a:r>
          </a:p>
          <a:p>
            <a:r>
              <a:rPr lang="en-US">
                <a:latin typeface="Times New Roman"/>
                <a:cs typeface="Times New Roman"/>
              </a:rPr>
              <a:t>Python: primary programming language for the project</a:t>
            </a:r>
            <a:endParaRPr lang="en-US">
              <a:latin typeface="Univers Light"/>
              <a:cs typeface="Times New Roman"/>
            </a:endParaRPr>
          </a:p>
          <a:p>
            <a:r>
              <a:rPr lang="en-US" err="1">
                <a:latin typeface="Times New Roman"/>
                <a:cs typeface="Times New Roman"/>
              </a:rPr>
              <a:t>Pytorch</a:t>
            </a:r>
            <a:r>
              <a:rPr lang="en-US">
                <a:latin typeface="Times New Roman"/>
                <a:cs typeface="Times New Roman"/>
              </a:rPr>
              <a:t>: used for building neural networks, defining loss functions, and optimizing models.</a:t>
            </a:r>
          </a:p>
          <a:p>
            <a:r>
              <a:rPr lang="en-US" err="1">
                <a:latin typeface="Times New Roman"/>
                <a:cs typeface="Times New Roman"/>
              </a:rPr>
              <a:t>torchVision</a:t>
            </a:r>
            <a:r>
              <a:rPr lang="en-US">
                <a:latin typeface="Times New Roman"/>
                <a:cs typeface="Times New Roman"/>
              </a:rPr>
              <a:t>: helps load and preprocess image data, apply transformations, and use pretrained models for training and evaluation</a:t>
            </a:r>
          </a:p>
          <a:p>
            <a:r>
              <a:rPr lang="en-US" err="1">
                <a:latin typeface="Times New Roman"/>
                <a:cs typeface="Times New Roman"/>
              </a:rPr>
              <a:t>numPy</a:t>
            </a:r>
            <a:r>
              <a:rPr lang="en-US">
                <a:latin typeface="Times New Roman"/>
                <a:cs typeface="Times New Roman"/>
              </a:rPr>
              <a:t>: for numerical operations and array manipulation</a:t>
            </a:r>
          </a:p>
          <a:p>
            <a:r>
              <a:rPr lang="en-US" err="1">
                <a:latin typeface="Times New Roman"/>
                <a:cs typeface="Times New Roman"/>
              </a:rPr>
              <a:t>tqdm</a:t>
            </a:r>
            <a:r>
              <a:rPr lang="en-US">
                <a:latin typeface="Times New Roman"/>
                <a:cs typeface="Times New Roman"/>
              </a:rPr>
              <a:t>: provides progress bar during training loops.</a:t>
            </a:r>
          </a:p>
          <a:p>
            <a:r>
              <a:rPr lang="en-US" err="1">
                <a:latin typeface="Times New Roman"/>
                <a:cs typeface="Times New Roman"/>
              </a:rPr>
              <a:t>Os</a:t>
            </a:r>
            <a:r>
              <a:rPr lang="en-US">
                <a:latin typeface="Times New Roman"/>
                <a:cs typeface="Times New Roman"/>
              </a:rPr>
              <a:t>: for interacting with the file system </a:t>
            </a:r>
          </a:p>
          <a:p>
            <a:r>
              <a:rPr lang="en-US">
                <a:latin typeface="Times New Roman"/>
                <a:cs typeface="Times New Roman"/>
              </a:rPr>
              <a:t>Random: used to control random behavior.</a:t>
            </a:r>
          </a:p>
          <a:p>
            <a:endParaRPr lang="en-US">
              <a:latin typeface="Times New Roman"/>
              <a:cs typeface="Times New Roman"/>
            </a:endParaRPr>
          </a:p>
        </p:txBody>
      </p:sp>
    </p:spTree>
    <p:extLst>
      <p:ext uri="{BB962C8B-B14F-4D97-AF65-F5344CB8AC3E}">
        <p14:creationId xmlns:p14="http://schemas.microsoft.com/office/powerpoint/2010/main" val="1483113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B79E681-E407-18D0-B6CC-5423413FC591}"/>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AFDCCA3-5CE7-058C-1962-A071B764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DFE55D-2EC3-AED1-0016-0F4DEDF87F5D}"/>
              </a:ext>
            </a:extLst>
          </p:cNvPr>
          <p:cNvSpPr>
            <a:spLocks noGrp="1"/>
          </p:cNvSpPr>
          <p:nvPr>
            <p:ph type="title"/>
          </p:nvPr>
        </p:nvSpPr>
        <p:spPr>
          <a:xfrm>
            <a:off x="281213" y="57968"/>
            <a:ext cx="2466938" cy="1789677"/>
          </a:xfrm>
          <a:noFill/>
        </p:spPr>
        <p:txBody>
          <a:bodyPr>
            <a:normAutofit/>
          </a:bodyPr>
          <a:lstStyle/>
          <a:p>
            <a:r>
              <a:rPr lang="en-US"/>
              <a:t>Results</a:t>
            </a:r>
          </a:p>
        </p:txBody>
      </p:sp>
      <p:sp>
        <p:nvSpPr>
          <p:cNvPr id="3" name="Content Placeholder 2">
            <a:extLst>
              <a:ext uri="{FF2B5EF4-FFF2-40B4-BE49-F238E27FC236}">
                <a16:creationId xmlns:a16="http://schemas.microsoft.com/office/drawing/2014/main" id="{B4E343E6-A902-B795-0363-B351BFF6B3B1}"/>
              </a:ext>
            </a:extLst>
          </p:cNvPr>
          <p:cNvSpPr>
            <a:spLocks noGrp="1"/>
          </p:cNvSpPr>
          <p:nvPr>
            <p:ph idx="1"/>
          </p:nvPr>
        </p:nvSpPr>
        <p:spPr>
          <a:xfrm>
            <a:off x="952502" y="2890881"/>
            <a:ext cx="5309020" cy="3009381"/>
          </a:xfrm>
        </p:spPr>
        <p:txBody>
          <a:bodyPr vert="horz" lIns="91440" tIns="45720" rIns="91440" bIns="45720" rtlCol="0">
            <a:normAutofit/>
          </a:bodyPr>
          <a:lstStyle/>
          <a:p>
            <a:endParaRPr lang="en-US">
              <a:latin typeface="Times New Roman"/>
              <a:cs typeface="Times New Roman"/>
            </a:endParaRPr>
          </a:p>
          <a:p>
            <a:endParaRPr lang="en-US">
              <a:latin typeface="Times New Roman"/>
              <a:cs typeface="Times New Roman"/>
            </a:endParaRPr>
          </a:p>
          <a:p>
            <a:endParaRPr lang="en-US"/>
          </a:p>
        </p:txBody>
      </p:sp>
      <p:sp>
        <p:nvSpPr>
          <p:cNvPr id="17" name="Rectangle 16">
            <a:extLst>
              <a:ext uri="{FF2B5EF4-FFF2-40B4-BE49-F238E27FC236}">
                <a16:creationId xmlns:a16="http://schemas.microsoft.com/office/drawing/2014/main" id="{FAC4BDE1-4D40-5601-7947-DB5EFE31DA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4543" y="965357"/>
            <a:ext cx="3105364" cy="494252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6A054594-8264-4A41-4E6C-4AC53520465A}"/>
              </a:ext>
            </a:extLst>
          </p:cNvPr>
          <p:cNvPicPr>
            <a:picLocks noChangeAspect="1"/>
          </p:cNvPicPr>
          <p:nvPr/>
        </p:nvPicPr>
        <p:blipFill>
          <a:blip r:embed="rId2"/>
          <a:srcRect t="-1226" b="613"/>
          <a:stretch>
            <a:fillRect/>
          </a:stretch>
        </p:blipFill>
        <p:spPr>
          <a:xfrm>
            <a:off x="6736134" y="190722"/>
            <a:ext cx="4484928" cy="6495709"/>
          </a:xfrm>
          <a:prstGeom prst="rect">
            <a:avLst/>
          </a:prstGeom>
        </p:spPr>
      </p:pic>
      <p:sp>
        <p:nvSpPr>
          <p:cNvPr id="5" name="TextBox 4">
            <a:extLst>
              <a:ext uri="{FF2B5EF4-FFF2-40B4-BE49-F238E27FC236}">
                <a16:creationId xmlns:a16="http://schemas.microsoft.com/office/drawing/2014/main" id="{66E6D295-65C5-149A-9320-664E2E921B10}"/>
              </a:ext>
            </a:extLst>
          </p:cNvPr>
          <p:cNvSpPr txBox="1"/>
          <p:nvPr/>
        </p:nvSpPr>
        <p:spPr>
          <a:xfrm>
            <a:off x="950493" y="1504122"/>
            <a:ext cx="4369346" cy="507831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Key findings:</a:t>
            </a:r>
          </a:p>
          <a:p>
            <a:endParaRPr lang="en-US">
              <a:latin typeface="Times New Roman"/>
              <a:cs typeface="Times New Roman"/>
            </a:endParaRPr>
          </a:p>
          <a:p>
            <a:pPr marL="285750" indent="-285750">
              <a:buFont typeface="Arial"/>
              <a:buChar char="•"/>
            </a:pPr>
            <a:r>
              <a:rPr lang="en-US">
                <a:latin typeface="Times New Roman"/>
                <a:cs typeface="Times New Roman"/>
              </a:rPr>
              <a:t>improvements begin to plateau at Epoch 7.</a:t>
            </a:r>
          </a:p>
          <a:p>
            <a:pPr marL="285750" indent="-285750">
              <a:buFont typeface="Arial"/>
              <a:buChar char="•"/>
            </a:pPr>
            <a:r>
              <a:rPr lang="en-US">
                <a:latin typeface="Times New Roman"/>
                <a:cs typeface="Times New Roman"/>
              </a:rPr>
              <a:t>Rapid learning: The model quickly reaches 97% validation accuracy by epoch three which means the model quickly identifies the key visual patterns in the dataset. </a:t>
            </a:r>
          </a:p>
          <a:p>
            <a:pPr marL="285750" indent="-285750">
              <a:buFont typeface="Arial"/>
              <a:buChar char="•"/>
            </a:pPr>
            <a:r>
              <a:rPr lang="en-US">
                <a:latin typeface="Times New Roman"/>
                <a:cs typeface="Times New Roman"/>
              </a:rPr>
              <a:t>Dataset simplicity: the model learns quickly on the dataset which suggests the dataset may be too simple.</a:t>
            </a:r>
          </a:p>
          <a:p>
            <a:pPr marL="285750" indent="-285750">
              <a:buFont typeface="Arial"/>
              <a:buChar char="•"/>
            </a:pPr>
            <a:r>
              <a:rPr lang="en-US">
                <a:latin typeface="Times New Roman"/>
                <a:cs typeface="Times New Roman"/>
              </a:rPr>
              <a:t>No major overfitting signs: the validation accuracy rises alongside the training accuracy.</a:t>
            </a:r>
          </a:p>
          <a:p>
            <a:pPr marL="285750" indent="-285750">
              <a:buFont typeface="Arial"/>
              <a:buChar char="•"/>
            </a:pPr>
            <a:endParaRPr lang="en-US"/>
          </a:p>
          <a:p>
            <a:pPr marL="285750" indent="-285750">
              <a:buFont typeface="Arial"/>
              <a:buChar char="•"/>
            </a:pPr>
            <a:endParaRPr lang="en-US"/>
          </a:p>
          <a:p>
            <a:endParaRPr lang="en-US"/>
          </a:p>
        </p:txBody>
      </p:sp>
    </p:spTree>
    <p:extLst>
      <p:ext uri="{BB962C8B-B14F-4D97-AF65-F5344CB8AC3E}">
        <p14:creationId xmlns:p14="http://schemas.microsoft.com/office/powerpoint/2010/main" val="2584895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2B1DA-CA03-AE5C-44FA-6AA647280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01F46E-12DE-272A-F8F1-6685B257FB31}"/>
              </a:ext>
            </a:extLst>
          </p:cNvPr>
          <p:cNvSpPr>
            <a:spLocks noGrp="1"/>
          </p:cNvSpPr>
          <p:nvPr>
            <p:ph type="title"/>
          </p:nvPr>
        </p:nvSpPr>
        <p:spPr>
          <a:ln>
            <a:solidFill>
              <a:schemeClr val="tx1"/>
            </a:solidFill>
          </a:ln>
        </p:spPr>
        <p:txBody>
          <a:bodyPr/>
          <a:lstStyle/>
          <a:p>
            <a:r>
              <a:rPr lang="en-US">
                <a:latin typeface="Goudy Old Style"/>
                <a:cs typeface="Times New Roman"/>
              </a:rPr>
              <a:t>Discussion</a:t>
            </a:r>
            <a:endParaRPr lang="en-US"/>
          </a:p>
        </p:txBody>
      </p:sp>
      <p:sp>
        <p:nvSpPr>
          <p:cNvPr id="3" name="Content Placeholder 2">
            <a:extLst>
              <a:ext uri="{FF2B5EF4-FFF2-40B4-BE49-F238E27FC236}">
                <a16:creationId xmlns:a16="http://schemas.microsoft.com/office/drawing/2014/main" id="{CE0A9F02-0A40-4C74-D3B8-EE90F17BF746}"/>
              </a:ext>
            </a:extLst>
          </p:cNvPr>
          <p:cNvSpPr>
            <a:spLocks noGrp="1"/>
          </p:cNvSpPr>
          <p:nvPr>
            <p:ph idx="1"/>
          </p:nvPr>
        </p:nvSpPr>
        <p:spPr>
          <a:ln>
            <a:solidFill>
              <a:schemeClr val="tx1"/>
            </a:solidFill>
          </a:ln>
        </p:spPr>
        <p:txBody>
          <a:bodyPr vert="horz" lIns="91440" tIns="45720" rIns="91440" bIns="45720" rtlCol="0" anchor="t">
            <a:normAutofit/>
          </a:bodyPr>
          <a:lstStyle/>
          <a:p>
            <a:r>
              <a:rPr lang="en-US">
                <a:latin typeface="Times New Roman"/>
                <a:cs typeface="Times New Roman"/>
              </a:rPr>
              <a:t>What worked well? </a:t>
            </a:r>
          </a:p>
          <a:p>
            <a:pPr marL="474980" lvl="1">
              <a:buFont typeface="Courier New" panose="020B0604020202020204" pitchFamily="34" charset="0"/>
              <a:buChar char="o"/>
            </a:pPr>
            <a:r>
              <a:rPr lang="en-US">
                <a:latin typeface="Times New Roman"/>
                <a:cs typeface="Times New Roman"/>
              </a:rPr>
              <a:t>The model was able to quickly improve within the first few epochs</a:t>
            </a:r>
          </a:p>
          <a:p>
            <a:pPr marL="474980" lvl="1">
              <a:buFont typeface="Courier New" panose="020B0604020202020204" pitchFamily="34" charset="0"/>
              <a:buChar char="o"/>
            </a:pPr>
            <a:r>
              <a:rPr lang="en-US">
                <a:latin typeface="Times New Roman"/>
                <a:cs typeface="Times New Roman"/>
              </a:rPr>
              <a:t>The Use of Resnet-18 worked well for image classification, it handled the data well.</a:t>
            </a:r>
          </a:p>
          <a:p>
            <a:pPr marL="474980" lvl="1">
              <a:buFont typeface="Courier New" panose="020B0604020202020204" pitchFamily="34" charset="0"/>
              <a:buChar char="o"/>
            </a:pPr>
            <a:r>
              <a:rPr lang="en-US">
                <a:latin typeface="Times New Roman"/>
                <a:cs typeface="Times New Roman"/>
              </a:rPr>
              <a:t>Saving the best model ensured that highest performing version was kept during training.</a:t>
            </a:r>
          </a:p>
          <a:p>
            <a:pPr marL="474980" lvl="1">
              <a:buFont typeface="Courier New" panose="020B0604020202020204" pitchFamily="34" charset="0"/>
              <a:buChar char="o"/>
            </a:pPr>
            <a:r>
              <a:rPr lang="en-US">
                <a:latin typeface="Times New Roman"/>
                <a:cs typeface="Times New Roman"/>
              </a:rPr>
              <a:t>The Training and Validation accuracy were close showing there was no heavy overfitting.</a:t>
            </a:r>
          </a:p>
          <a:p>
            <a:r>
              <a:rPr lang="en-US">
                <a:latin typeface="Times New Roman"/>
                <a:cs typeface="Times New Roman"/>
              </a:rPr>
              <a:t>Real-world impact of your solution: The model could help farmers detect coconut tree diseases early using images. This could protect crops by preventing the spread of disease.</a:t>
            </a:r>
          </a:p>
          <a:p>
            <a:endParaRPr lang="en-US">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2471524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F97F0-BC48-288C-F169-20F8D2644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92F86-D5F8-BB5F-0F78-8057D3E60690}"/>
              </a:ext>
            </a:extLst>
          </p:cNvPr>
          <p:cNvSpPr>
            <a:spLocks noGrp="1"/>
          </p:cNvSpPr>
          <p:nvPr>
            <p:ph type="title"/>
          </p:nvPr>
        </p:nvSpPr>
        <p:spPr>
          <a:ln>
            <a:solidFill>
              <a:schemeClr val="tx1"/>
            </a:solidFill>
          </a:ln>
        </p:spPr>
        <p:txBody>
          <a:bodyPr/>
          <a:lstStyle/>
          <a:p>
            <a:r>
              <a:rPr lang="en-US">
                <a:latin typeface="Goudy Old Style"/>
                <a:cs typeface="Times New Roman"/>
              </a:rPr>
              <a:t>Discussion continued</a:t>
            </a:r>
            <a:endParaRPr lang="en-US"/>
          </a:p>
        </p:txBody>
      </p:sp>
      <p:sp>
        <p:nvSpPr>
          <p:cNvPr id="3" name="Content Placeholder 2">
            <a:extLst>
              <a:ext uri="{FF2B5EF4-FFF2-40B4-BE49-F238E27FC236}">
                <a16:creationId xmlns:a16="http://schemas.microsoft.com/office/drawing/2014/main" id="{126E5D4C-CBBE-5D09-0816-0DFAA02810CE}"/>
              </a:ext>
            </a:extLst>
          </p:cNvPr>
          <p:cNvSpPr>
            <a:spLocks noGrp="1"/>
          </p:cNvSpPr>
          <p:nvPr>
            <p:ph idx="1"/>
          </p:nvPr>
        </p:nvSpPr>
        <p:spPr>
          <a:xfrm>
            <a:off x="1295400" y="2262188"/>
            <a:ext cx="9601200" cy="4296454"/>
          </a:xfrm>
          <a:ln>
            <a:solidFill>
              <a:schemeClr val="tx1"/>
            </a:solidFill>
          </a:ln>
        </p:spPr>
        <p:txBody>
          <a:bodyPr vert="horz" lIns="91440" tIns="45720" rIns="91440" bIns="45720" rtlCol="0" anchor="t">
            <a:normAutofit/>
          </a:bodyPr>
          <a:lstStyle/>
          <a:p>
            <a:r>
              <a:rPr lang="en-US">
                <a:latin typeface="Times New Roman"/>
                <a:cs typeface="Times New Roman"/>
              </a:rPr>
              <a:t>Challenges or limitations:</a:t>
            </a:r>
          </a:p>
          <a:p>
            <a:pPr marL="474980" lvl="1">
              <a:buFont typeface="Courier New" panose="020B0604020202020204" pitchFamily="34" charset="0"/>
              <a:buChar char="o"/>
            </a:pPr>
            <a:r>
              <a:rPr lang="en-US">
                <a:latin typeface="Times New Roman"/>
                <a:cs typeface="Times New Roman"/>
              </a:rPr>
              <a:t>The dataset is imbalanced; some classes have more images than others which could make the model biased.</a:t>
            </a:r>
          </a:p>
          <a:p>
            <a:pPr marL="474980" lvl="1">
              <a:buFont typeface="Courier New" panose="020B0604020202020204" pitchFamily="34" charset="0"/>
              <a:buChar char="o"/>
            </a:pPr>
            <a:r>
              <a:rPr lang="en-US">
                <a:latin typeface="Times New Roman"/>
                <a:cs typeface="Times New Roman"/>
              </a:rPr>
              <a:t>Limited Experience: some members had limited experience with machine learning projects.</a:t>
            </a:r>
          </a:p>
          <a:p>
            <a:pPr marL="474980" lvl="1">
              <a:buFont typeface="Courier New" panose="020B0604020202020204" pitchFamily="34" charset="0"/>
              <a:buChar char="o"/>
            </a:pPr>
            <a:r>
              <a:rPr lang="en-US">
                <a:latin typeface="Times New Roman"/>
                <a:cs typeface="Times New Roman"/>
              </a:rPr>
              <a:t>The group had limited time to fix all issues thoroughly.</a:t>
            </a:r>
          </a:p>
          <a:p>
            <a:r>
              <a:rPr lang="en-US">
                <a:latin typeface="Times New Roman"/>
                <a:cs typeface="Times New Roman"/>
              </a:rPr>
              <a:t>Possible improvements: </a:t>
            </a:r>
          </a:p>
          <a:p>
            <a:pPr marL="474980" lvl="1">
              <a:buFont typeface="Courier New" panose="020B0604020202020204" pitchFamily="34" charset="0"/>
              <a:buChar char="o"/>
            </a:pPr>
            <a:r>
              <a:rPr lang="en-US">
                <a:latin typeface="Times New Roman"/>
                <a:cs typeface="Times New Roman"/>
              </a:rPr>
              <a:t>Implement early stopping to stop training once improvement stops.</a:t>
            </a:r>
          </a:p>
          <a:p>
            <a:pPr marL="474980" lvl="1">
              <a:buFont typeface="Courier New" panose="020B0604020202020204" pitchFamily="34" charset="0"/>
              <a:buChar char="o"/>
            </a:pPr>
            <a:r>
              <a:rPr lang="en-US">
                <a:latin typeface="Times New Roman"/>
                <a:cs typeface="Times New Roman"/>
              </a:rPr>
              <a:t>Increase dataset quality by adding more diverse images</a:t>
            </a:r>
          </a:p>
          <a:p>
            <a:pPr marL="474980" lvl="1">
              <a:buFont typeface="Courier New" panose="020B0604020202020204" pitchFamily="34" charset="0"/>
              <a:buChar char="o"/>
            </a:pPr>
            <a:r>
              <a:rPr lang="en-US">
                <a:latin typeface="Times New Roman"/>
                <a:cs typeface="Times New Roman"/>
              </a:rPr>
              <a:t>Test model on new real-world images to check how well it performs in a real setting.</a:t>
            </a:r>
          </a:p>
          <a:p>
            <a:pPr marL="474980" lvl="1">
              <a:buFont typeface="Courier New" panose="020B0604020202020204" pitchFamily="34" charset="0"/>
              <a:buChar char="o"/>
            </a:pPr>
            <a:r>
              <a:rPr lang="en-US">
                <a:latin typeface="Times New Roman"/>
                <a:cs typeface="Times New Roman"/>
              </a:rPr>
              <a:t>Perform more hyperparameter tuning</a:t>
            </a:r>
          </a:p>
          <a:p>
            <a:pPr marL="474980" lvl="1">
              <a:buFont typeface="Courier New" panose="020B0604020202020204" pitchFamily="34" charset="0"/>
              <a:buChar char="o"/>
            </a:pPr>
            <a:r>
              <a:rPr lang="en-US">
                <a:latin typeface="Times New Roman"/>
                <a:cs typeface="Times New Roman"/>
              </a:rPr>
              <a:t>Fix the class imbalance by using weighted loss or oversampling smaller classes.</a:t>
            </a:r>
          </a:p>
          <a:p>
            <a:pPr marL="246380" lvl="1" indent="0">
              <a:buNone/>
            </a:pPr>
            <a:endParaRPr lang="en-US">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3805306469"/>
      </p:ext>
    </p:extLst>
  </p:cSld>
  <p:clrMapOvr>
    <a:masterClrMapping/>
  </p:clrMapOvr>
</p:sld>
</file>

<file path=ppt/theme/theme1.xml><?xml version="1.0" encoding="utf-8"?>
<a:theme xmlns:a="http://schemas.openxmlformats.org/drawingml/2006/main" name="PoiseVTI">
  <a:themeElements>
    <a:clrScheme name="Poise">
      <a:dk1>
        <a:sysClr val="windowText" lastClr="000000"/>
      </a:dk1>
      <a:lt1>
        <a:sysClr val="window" lastClr="FFFFFF"/>
      </a:lt1>
      <a:dk2>
        <a:srgbClr val="403739"/>
      </a:dk2>
      <a:lt2>
        <a:srgbClr val="F4E9E6"/>
      </a:lt2>
      <a:accent1>
        <a:srgbClr val="B18083"/>
      </a:accent1>
      <a:accent2>
        <a:srgbClr val="C17A69"/>
      </a:accent2>
      <a:accent3>
        <a:srgbClr val="CE9573"/>
      </a:accent3>
      <a:accent4>
        <a:srgbClr val="82907A"/>
      </a:accent4>
      <a:accent5>
        <a:srgbClr val="9A9966"/>
      </a:accent5>
      <a:accent6>
        <a:srgbClr val="AB9955"/>
      </a:accent6>
      <a:hlink>
        <a:srgbClr val="A97979"/>
      </a:hlink>
      <a:folHlink>
        <a:srgbClr val="BB7563"/>
      </a:folHlink>
    </a:clrScheme>
    <a:fontScheme name="Goudy Univers">
      <a:majorFont>
        <a:latin typeface="Goudy Old Style"/>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iseVTI" id="{9843863B-6720-4231-BFE7-E604B355382A}" vid="{6C5B2780-C73E-445D-98DA-9D2BCD78971D}"/>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PoiseVTI</vt:lpstr>
      <vt:lpstr>Plant disease detector</vt:lpstr>
      <vt:lpstr>Problem Recap</vt:lpstr>
      <vt:lpstr>Data description</vt:lpstr>
      <vt:lpstr>Data description</vt:lpstr>
      <vt:lpstr>Methodology Continued</vt:lpstr>
      <vt:lpstr>Methodology</vt:lpstr>
      <vt:lpstr>Implementation</vt:lpstr>
      <vt:lpstr>Results</vt:lpstr>
      <vt:lpstr>Discussion</vt:lpstr>
      <vt:lpstr>Discussion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2026-04-06T17:44:23Z</dcterms:created>
  <dcterms:modified xsi:type="dcterms:W3CDTF">2026-05-27T19:09:39Z</dcterms:modified>
</cp:coreProperties>
</file>